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1" r:id="rId1"/>
    <p:sldMasterId id="2147483672" r:id="rId2"/>
  </p:sldMasterIdLst>
  <p:notesMasterIdLst>
    <p:notesMasterId r:id="rId35"/>
  </p:notesMasterIdLst>
  <p:sldIdLst>
    <p:sldId id="256" r:id="rId3"/>
    <p:sldId id="257" r:id="rId4"/>
    <p:sldId id="261" r:id="rId5"/>
    <p:sldId id="262" r:id="rId6"/>
    <p:sldId id="287" r:id="rId7"/>
    <p:sldId id="258" r:id="rId8"/>
    <p:sldId id="259" r:id="rId9"/>
    <p:sldId id="260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68" d="100"/>
          <a:sy n="168" d="100"/>
        </p:scale>
        <p:origin x="66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1fc4935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f1fc49350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1fc49350a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g3f1fc49350a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1fc49350a_0_3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g3f1fc49350a_0_3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1fc49350a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f1fc49350a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1fc49350a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f1fc49350a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3c96c856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f3c96c856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f1fc49350a_0_4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f1fc49350a_0_4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f4272c5c7e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f4272c5c7e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f4272c5c7e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f4272c5c7e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175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3175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3175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3175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»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175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3175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3175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3175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Calibri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-889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>
            <a:lvl1pPr marL="0" marR="0" lvl="0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-22225" algn="r" rtl="0">
              <a:spcBef>
                <a:spcPts val="0"/>
              </a:spcBef>
              <a:spcAft>
                <a:spcPts val="0"/>
              </a:spcAft>
              <a:buSzPct val="116667"/>
              <a:buChar char="●"/>
            </a:pPr>
            <a:endParaRPr/>
          </a:p>
          <a:p>
            <a:pPr marL="457200" lvl="1" indent="-22225" algn="l" rtl="0">
              <a:spcBef>
                <a:spcPts val="0"/>
              </a:spcBef>
              <a:spcAft>
                <a:spcPts val="0"/>
              </a:spcAft>
              <a:buSzPct val="77778"/>
              <a:buChar char="○"/>
            </a:pPr>
            <a:endParaRPr sz="1800">
              <a:solidFill>
                <a:schemeClr val="dk1"/>
              </a:solidFill>
            </a:endParaRPr>
          </a:p>
          <a:p>
            <a:pPr marL="914400" lvl="2" indent="-22225" algn="l" rtl="0">
              <a:spcBef>
                <a:spcPts val="0"/>
              </a:spcBef>
              <a:spcAft>
                <a:spcPts val="0"/>
              </a:spcAft>
              <a:buSzPct val="77778"/>
              <a:buChar char="■"/>
            </a:pPr>
            <a:endParaRPr sz="1800">
              <a:solidFill>
                <a:schemeClr val="dk1"/>
              </a:solidFill>
            </a:endParaRPr>
          </a:p>
          <a:p>
            <a:pPr marL="1371600" lvl="3" indent="-22225" algn="l" rtl="0">
              <a:spcBef>
                <a:spcPts val="0"/>
              </a:spcBef>
              <a:spcAft>
                <a:spcPts val="0"/>
              </a:spcAft>
              <a:buSzPct val="77778"/>
              <a:buChar char="●"/>
            </a:pPr>
            <a:endParaRPr sz="1800">
              <a:solidFill>
                <a:schemeClr val="dk1"/>
              </a:solidFill>
            </a:endParaRPr>
          </a:p>
          <a:p>
            <a:pPr marL="1828800" lvl="4" indent="-22225" algn="l" rtl="0">
              <a:spcBef>
                <a:spcPts val="0"/>
              </a:spcBef>
              <a:spcAft>
                <a:spcPts val="0"/>
              </a:spcAft>
              <a:buSzPct val="77778"/>
              <a:buChar char="○"/>
            </a:pPr>
            <a:endParaRPr sz="1800">
              <a:solidFill>
                <a:schemeClr val="dk1"/>
              </a:solidFill>
            </a:endParaRPr>
          </a:p>
          <a:p>
            <a:pPr marL="2286000" lvl="5" indent="-22225" algn="l" rtl="0">
              <a:spcBef>
                <a:spcPts val="0"/>
              </a:spcBef>
              <a:spcAft>
                <a:spcPts val="0"/>
              </a:spcAft>
              <a:buSzPct val="77778"/>
              <a:buChar char="■"/>
            </a:pPr>
            <a:endParaRPr sz="1800">
              <a:solidFill>
                <a:schemeClr val="dk1"/>
              </a:solidFill>
            </a:endParaRPr>
          </a:p>
          <a:p>
            <a:pPr marL="2743200" lvl="6" indent="-22225" algn="l" rtl="0">
              <a:spcBef>
                <a:spcPts val="0"/>
              </a:spcBef>
              <a:spcAft>
                <a:spcPts val="0"/>
              </a:spcAft>
              <a:buSzPct val="77778"/>
              <a:buChar char="●"/>
            </a:pPr>
            <a:endParaRPr sz="1800">
              <a:solidFill>
                <a:schemeClr val="dk1"/>
              </a:solidFill>
            </a:endParaRPr>
          </a:p>
          <a:p>
            <a:pPr marL="3200400" lvl="7" indent="-22225" algn="l" rtl="0">
              <a:spcBef>
                <a:spcPts val="0"/>
              </a:spcBef>
              <a:spcAft>
                <a:spcPts val="0"/>
              </a:spcAft>
              <a:buSzPct val="77778"/>
              <a:buChar char="○"/>
            </a:pPr>
            <a:endParaRPr sz="1800">
              <a:solidFill>
                <a:schemeClr val="dk1"/>
              </a:solidFill>
            </a:endParaRPr>
          </a:p>
          <a:p>
            <a:pPr marL="3657600" lvl="8" indent="-22225" algn="l" rtl="0">
              <a:spcBef>
                <a:spcPts val="0"/>
              </a:spcBef>
              <a:spcAft>
                <a:spcPts val="0"/>
              </a:spcAft>
              <a:buSzPct val="77778"/>
              <a:buChar char="■"/>
            </a:pP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ctrTitle"/>
          </p:nvPr>
        </p:nvSpPr>
        <p:spPr>
          <a:xfrm>
            <a:off x="685800" y="1597819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0" marR="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0" marR="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0" marR="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0" marR="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0" marR="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0" marR="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0" marR="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3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2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-889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-88900" algn="r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/>
          </a:p>
          <a:p>
            <a:pPr marL="457200" lvl="1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sz="1800">
              <a:solidFill>
                <a:schemeClr val="dk1"/>
              </a:solidFill>
            </a:endParaRPr>
          </a:p>
          <a:p>
            <a:pPr marL="914400" lvl="2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 sz="1800">
              <a:solidFill>
                <a:schemeClr val="dk1"/>
              </a:solidFill>
            </a:endParaRPr>
          </a:p>
          <a:p>
            <a:pPr marL="1371600" lvl="3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 sz="1800">
              <a:solidFill>
                <a:schemeClr val="dk1"/>
              </a:solidFill>
            </a:endParaRPr>
          </a:p>
          <a:p>
            <a:pPr marL="1828800" lvl="4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sz="1800">
              <a:solidFill>
                <a:schemeClr val="dk1"/>
              </a:solidFill>
            </a:endParaRPr>
          </a:p>
          <a:p>
            <a:pPr marL="2286000" lvl="5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 sz="1800">
              <a:solidFill>
                <a:schemeClr val="dk1"/>
              </a:solidFill>
            </a:endParaRPr>
          </a:p>
          <a:p>
            <a:pPr marL="2743200" lvl="6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 sz="1800">
              <a:solidFill>
                <a:schemeClr val="dk1"/>
              </a:solidFill>
            </a:endParaRPr>
          </a:p>
          <a:p>
            <a:pPr marL="3200400" lvl="7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sz="1800">
              <a:solidFill>
                <a:schemeClr val="dk1"/>
              </a:solidFill>
            </a:endParaRPr>
          </a:p>
          <a:p>
            <a:pPr marL="3657600" lvl="8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175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3175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»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-889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-88900" algn="r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/>
          </a:p>
          <a:p>
            <a:pPr marL="457200" lvl="1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sz="1800">
              <a:solidFill>
                <a:schemeClr val="dk1"/>
              </a:solidFill>
            </a:endParaRPr>
          </a:p>
          <a:p>
            <a:pPr marL="914400" lvl="2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 sz="1800">
              <a:solidFill>
                <a:schemeClr val="dk1"/>
              </a:solidFill>
            </a:endParaRPr>
          </a:p>
          <a:p>
            <a:pPr marL="1371600" lvl="3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 sz="1800">
              <a:solidFill>
                <a:schemeClr val="dk1"/>
              </a:solidFill>
            </a:endParaRPr>
          </a:p>
          <a:p>
            <a:pPr marL="1828800" lvl="4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sz="1800">
              <a:solidFill>
                <a:schemeClr val="dk1"/>
              </a:solidFill>
            </a:endParaRPr>
          </a:p>
          <a:p>
            <a:pPr marL="2286000" lvl="5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 sz="1800">
              <a:solidFill>
                <a:schemeClr val="dk1"/>
              </a:solidFill>
            </a:endParaRPr>
          </a:p>
          <a:p>
            <a:pPr marL="2743200" lvl="6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 sz="1800">
              <a:solidFill>
                <a:schemeClr val="dk1"/>
              </a:solidFill>
            </a:endParaRPr>
          </a:p>
          <a:p>
            <a:pPr marL="3200400" lvl="7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sz="1800">
              <a:solidFill>
                <a:schemeClr val="dk1"/>
              </a:solidFill>
            </a:endParaRPr>
          </a:p>
          <a:p>
            <a:pPr marL="3657600" lvl="8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>
            <a:off x="722313" y="3305175"/>
            <a:ext cx="7772400" cy="10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small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2860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-889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-88900" algn="r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/>
          </a:p>
          <a:p>
            <a:pPr marL="457200" lvl="1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sz="1800">
              <a:solidFill>
                <a:schemeClr val="dk1"/>
              </a:solidFill>
            </a:endParaRPr>
          </a:p>
          <a:p>
            <a:pPr marL="914400" lvl="2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 sz="1800">
              <a:solidFill>
                <a:schemeClr val="dk1"/>
              </a:solidFill>
            </a:endParaRPr>
          </a:p>
          <a:p>
            <a:pPr marL="1371600" lvl="3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 sz="1800">
              <a:solidFill>
                <a:schemeClr val="dk1"/>
              </a:solidFill>
            </a:endParaRPr>
          </a:p>
          <a:p>
            <a:pPr marL="1828800" lvl="4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sz="1800">
              <a:solidFill>
                <a:schemeClr val="dk1"/>
              </a:solidFill>
            </a:endParaRPr>
          </a:p>
          <a:p>
            <a:pPr marL="2286000" lvl="5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 sz="1800">
              <a:solidFill>
                <a:schemeClr val="dk1"/>
              </a:solidFill>
            </a:endParaRPr>
          </a:p>
          <a:p>
            <a:pPr marL="2743200" lvl="6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 sz="1800">
              <a:solidFill>
                <a:schemeClr val="dk1"/>
              </a:solidFill>
            </a:endParaRPr>
          </a:p>
          <a:p>
            <a:pPr marL="3200400" lvl="7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sz="1800">
              <a:solidFill>
                <a:schemeClr val="dk1"/>
              </a:solidFill>
            </a:endParaRPr>
          </a:p>
          <a:p>
            <a:pPr marL="3657600" lvl="8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640"/>
              </a:spcBef>
              <a:spcAft>
                <a:spcPts val="0"/>
              </a:spcAft>
              <a:buSzPts val="1400"/>
              <a:buChar char="•"/>
              <a:defRPr sz="2800"/>
            </a:lvl1pPr>
            <a:lvl2pPr marL="914400" lvl="1" indent="-317500">
              <a:spcBef>
                <a:spcPts val="560"/>
              </a:spcBef>
              <a:spcAft>
                <a:spcPts val="0"/>
              </a:spcAft>
              <a:buSzPts val="1400"/>
              <a:buChar char="–"/>
              <a:defRPr sz="2400"/>
            </a:lvl2pPr>
            <a:lvl3pPr marL="1371600" lvl="2" indent="-317500">
              <a:spcBef>
                <a:spcPts val="480"/>
              </a:spcBef>
              <a:spcAft>
                <a:spcPts val="0"/>
              </a:spcAft>
              <a:buSzPts val="1400"/>
              <a:buChar char="•"/>
              <a:defRPr sz="2000"/>
            </a:lvl3pPr>
            <a:lvl4pPr marL="1828800" lvl="3" indent="-317500">
              <a:spcBef>
                <a:spcPts val="400"/>
              </a:spcBef>
              <a:spcAft>
                <a:spcPts val="0"/>
              </a:spcAft>
              <a:buSzPts val="1400"/>
              <a:buChar char="–"/>
              <a:defRPr sz="1800"/>
            </a:lvl4pPr>
            <a:lvl5pPr marL="2286000" lvl="4" indent="-317500">
              <a:spcBef>
                <a:spcPts val="400"/>
              </a:spcBef>
              <a:spcAft>
                <a:spcPts val="0"/>
              </a:spcAft>
              <a:buSzPts val="1400"/>
              <a:buChar char="»"/>
              <a:defRPr sz="1800"/>
            </a:lvl5pPr>
            <a:lvl6pPr marL="2743200" lvl="5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800"/>
            </a:lvl6pPr>
            <a:lvl7pPr marL="3200400" lvl="6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800"/>
            </a:lvl7pPr>
            <a:lvl8pPr marL="3657600" lvl="7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800"/>
            </a:lvl8pPr>
            <a:lvl9pPr marL="4114800" lvl="8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800"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body" idx="2"/>
          </p:nvPr>
        </p:nvSpPr>
        <p:spPr>
          <a:xfrm>
            <a:off x="4648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640"/>
              </a:spcBef>
              <a:spcAft>
                <a:spcPts val="0"/>
              </a:spcAft>
              <a:buSzPts val="1400"/>
              <a:buChar char="•"/>
              <a:defRPr sz="2800"/>
            </a:lvl1pPr>
            <a:lvl2pPr marL="914400" lvl="1" indent="-317500">
              <a:spcBef>
                <a:spcPts val="560"/>
              </a:spcBef>
              <a:spcAft>
                <a:spcPts val="0"/>
              </a:spcAft>
              <a:buSzPts val="1400"/>
              <a:buChar char="–"/>
              <a:defRPr sz="2400"/>
            </a:lvl2pPr>
            <a:lvl3pPr marL="1371600" lvl="2" indent="-317500">
              <a:spcBef>
                <a:spcPts val="480"/>
              </a:spcBef>
              <a:spcAft>
                <a:spcPts val="0"/>
              </a:spcAft>
              <a:buSzPts val="1400"/>
              <a:buChar char="•"/>
              <a:defRPr sz="2000"/>
            </a:lvl3pPr>
            <a:lvl4pPr marL="1828800" lvl="3" indent="-317500">
              <a:spcBef>
                <a:spcPts val="400"/>
              </a:spcBef>
              <a:spcAft>
                <a:spcPts val="0"/>
              </a:spcAft>
              <a:buSzPts val="1400"/>
              <a:buChar char="–"/>
              <a:defRPr sz="1800"/>
            </a:lvl4pPr>
            <a:lvl5pPr marL="2286000" lvl="4" indent="-317500">
              <a:spcBef>
                <a:spcPts val="400"/>
              </a:spcBef>
              <a:spcAft>
                <a:spcPts val="0"/>
              </a:spcAft>
              <a:buSzPts val="1400"/>
              <a:buChar char="»"/>
              <a:defRPr sz="1800"/>
            </a:lvl5pPr>
            <a:lvl6pPr marL="2743200" lvl="5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800"/>
            </a:lvl6pPr>
            <a:lvl7pPr marL="3200400" lvl="6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800"/>
            </a:lvl7pPr>
            <a:lvl8pPr marL="3657600" lvl="7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800"/>
            </a:lvl8pPr>
            <a:lvl9pPr marL="4114800" lvl="8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800"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-889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-88900" algn="r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/>
          </a:p>
          <a:p>
            <a:pPr marL="457200" lvl="1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sz="1800">
              <a:solidFill>
                <a:schemeClr val="dk1"/>
              </a:solidFill>
            </a:endParaRPr>
          </a:p>
          <a:p>
            <a:pPr marL="914400" lvl="2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 sz="1800">
              <a:solidFill>
                <a:schemeClr val="dk1"/>
              </a:solidFill>
            </a:endParaRPr>
          </a:p>
          <a:p>
            <a:pPr marL="1371600" lvl="3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 sz="1800">
              <a:solidFill>
                <a:schemeClr val="dk1"/>
              </a:solidFill>
            </a:endParaRPr>
          </a:p>
          <a:p>
            <a:pPr marL="1828800" lvl="4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sz="1800">
              <a:solidFill>
                <a:schemeClr val="dk1"/>
              </a:solidFill>
            </a:endParaRPr>
          </a:p>
          <a:p>
            <a:pPr marL="2286000" lvl="5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 sz="1800">
              <a:solidFill>
                <a:schemeClr val="dk1"/>
              </a:solidFill>
            </a:endParaRPr>
          </a:p>
          <a:p>
            <a:pPr marL="2743200" lvl="6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 sz="1800">
              <a:solidFill>
                <a:schemeClr val="dk1"/>
              </a:solidFill>
            </a:endParaRPr>
          </a:p>
          <a:p>
            <a:pPr marL="3200400" lvl="7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sz="1800">
              <a:solidFill>
                <a:schemeClr val="dk1"/>
              </a:solidFill>
            </a:endParaRPr>
          </a:p>
          <a:p>
            <a:pPr marL="3657600" lvl="8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body" idx="1"/>
          </p:nvPr>
        </p:nvSpPr>
        <p:spPr>
          <a:xfrm>
            <a:off x="457200" y="1151335"/>
            <a:ext cx="4040100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28600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None/>
              <a:defRPr sz="2400" b="1"/>
            </a:lvl1pPr>
            <a:lvl2pPr marL="914400" lvl="1" indent="-228600">
              <a:spcBef>
                <a:spcPts val="560"/>
              </a:spcBef>
              <a:spcAft>
                <a:spcPts val="0"/>
              </a:spcAft>
              <a:buSzPts val="1400"/>
              <a:buFont typeface="Calibri"/>
              <a:buNone/>
              <a:defRPr sz="2000" b="1"/>
            </a:lvl2pPr>
            <a:lvl3pPr marL="1371600" lvl="2" indent="-228600">
              <a:spcBef>
                <a:spcPts val="480"/>
              </a:spcBef>
              <a:spcAft>
                <a:spcPts val="0"/>
              </a:spcAft>
              <a:buSzPts val="1400"/>
              <a:buFont typeface="Calibri"/>
              <a:buNone/>
              <a:defRPr sz="1800" b="1"/>
            </a:lvl3pPr>
            <a:lvl4pPr marL="1828800" lvl="3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sz="1600" b="1"/>
            </a:lvl4pPr>
            <a:lvl5pPr marL="2286000" lvl="4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sz="1600" b="1"/>
            </a:lvl5pPr>
            <a:lvl6pPr marL="2743200" lvl="5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sz="1600" b="1"/>
            </a:lvl6pPr>
            <a:lvl7pPr marL="3200400" lvl="6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sz="1600" b="1"/>
            </a:lvl7pPr>
            <a:lvl8pPr marL="3657600" lvl="7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sz="1600" b="1"/>
            </a:lvl8pPr>
            <a:lvl9pPr marL="4114800" lvl="8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sz="1600" b="1"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body" idx="2"/>
          </p:nvPr>
        </p:nvSpPr>
        <p:spPr>
          <a:xfrm>
            <a:off x="457200" y="1631156"/>
            <a:ext cx="4040100" cy="29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640"/>
              </a:spcBef>
              <a:spcAft>
                <a:spcPts val="0"/>
              </a:spcAft>
              <a:buSzPts val="1400"/>
              <a:buChar char="•"/>
              <a:defRPr sz="2400"/>
            </a:lvl1pPr>
            <a:lvl2pPr marL="914400" lvl="1" indent="-317500">
              <a:spcBef>
                <a:spcPts val="560"/>
              </a:spcBef>
              <a:spcAft>
                <a:spcPts val="0"/>
              </a:spcAft>
              <a:buSzPts val="1400"/>
              <a:buChar char="–"/>
              <a:defRPr sz="2000"/>
            </a:lvl2pPr>
            <a:lvl3pPr marL="1371600" lvl="2" indent="-317500">
              <a:spcBef>
                <a:spcPts val="480"/>
              </a:spcBef>
              <a:spcAft>
                <a:spcPts val="0"/>
              </a:spcAft>
              <a:buSzPts val="1400"/>
              <a:buChar char="•"/>
              <a:defRPr sz="1800"/>
            </a:lvl3pPr>
            <a:lvl4pPr marL="1828800" lvl="3" indent="-317500">
              <a:spcBef>
                <a:spcPts val="400"/>
              </a:spcBef>
              <a:spcAft>
                <a:spcPts val="0"/>
              </a:spcAft>
              <a:buSzPts val="1400"/>
              <a:buChar char="–"/>
              <a:defRPr sz="1600"/>
            </a:lvl4pPr>
            <a:lvl5pPr marL="2286000" lvl="4" indent="-317500">
              <a:spcBef>
                <a:spcPts val="400"/>
              </a:spcBef>
              <a:spcAft>
                <a:spcPts val="0"/>
              </a:spcAft>
              <a:buSzPts val="1400"/>
              <a:buChar char="»"/>
              <a:defRPr sz="1600"/>
            </a:lvl5pPr>
            <a:lvl6pPr marL="2743200" lvl="5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600"/>
            </a:lvl6pPr>
            <a:lvl7pPr marL="3200400" lvl="6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600"/>
            </a:lvl7pPr>
            <a:lvl8pPr marL="3657600" lvl="7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600"/>
            </a:lvl8pPr>
            <a:lvl9pPr marL="4114800" lvl="8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600"/>
            </a:lvl9pPr>
          </a:lstStyle>
          <a:p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body" idx="3"/>
          </p:nvPr>
        </p:nvSpPr>
        <p:spPr>
          <a:xfrm>
            <a:off x="4645025" y="1151335"/>
            <a:ext cx="4041900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28600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None/>
              <a:defRPr sz="2400" b="1"/>
            </a:lvl1pPr>
            <a:lvl2pPr marL="914400" lvl="1" indent="-228600">
              <a:spcBef>
                <a:spcPts val="560"/>
              </a:spcBef>
              <a:spcAft>
                <a:spcPts val="0"/>
              </a:spcAft>
              <a:buSzPts val="1400"/>
              <a:buFont typeface="Calibri"/>
              <a:buNone/>
              <a:defRPr sz="2000" b="1"/>
            </a:lvl2pPr>
            <a:lvl3pPr marL="1371600" lvl="2" indent="-228600">
              <a:spcBef>
                <a:spcPts val="480"/>
              </a:spcBef>
              <a:spcAft>
                <a:spcPts val="0"/>
              </a:spcAft>
              <a:buSzPts val="1400"/>
              <a:buFont typeface="Calibri"/>
              <a:buNone/>
              <a:defRPr sz="1800" b="1"/>
            </a:lvl3pPr>
            <a:lvl4pPr marL="1828800" lvl="3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sz="1600" b="1"/>
            </a:lvl4pPr>
            <a:lvl5pPr marL="2286000" lvl="4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sz="1600" b="1"/>
            </a:lvl5pPr>
            <a:lvl6pPr marL="2743200" lvl="5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sz="1600" b="1"/>
            </a:lvl6pPr>
            <a:lvl7pPr marL="3200400" lvl="6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sz="1600" b="1"/>
            </a:lvl7pPr>
            <a:lvl8pPr marL="3657600" lvl="7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sz="1600" b="1"/>
            </a:lvl8pPr>
            <a:lvl9pPr marL="4114800" lvl="8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sz="1600" b="1"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body" idx="4"/>
          </p:nvPr>
        </p:nvSpPr>
        <p:spPr>
          <a:xfrm>
            <a:off x="4645025" y="1631156"/>
            <a:ext cx="4041900" cy="29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640"/>
              </a:spcBef>
              <a:spcAft>
                <a:spcPts val="0"/>
              </a:spcAft>
              <a:buSzPts val="1400"/>
              <a:buChar char="•"/>
              <a:defRPr sz="2400"/>
            </a:lvl1pPr>
            <a:lvl2pPr marL="914400" lvl="1" indent="-317500">
              <a:spcBef>
                <a:spcPts val="560"/>
              </a:spcBef>
              <a:spcAft>
                <a:spcPts val="0"/>
              </a:spcAft>
              <a:buSzPts val="1400"/>
              <a:buChar char="–"/>
              <a:defRPr sz="2000"/>
            </a:lvl2pPr>
            <a:lvl3pPr marL="1371600" lvl="2" indent="-317500">
              <a:spcBef>
                <a:spcPts val="480"/>
              </a:spcBef>
              <a:spcAft>
                <a:spcPts val="0"/>
              </a:spcAft>
              <a:buSzPts val="1400"/>
              <a:buChar char="•"/>
              <a:defRPr sz="1800"/>
            </a:lvl3pPr>
            <a:lvl4pPr marL="1828800" lvl="3" indent="-317500">
              <a:spcBef>
                <a:spcPts val="400"/>
              </a:spcBef>
              <a:spcAft>
                <a:spcPts val="0"/>
              </a:spcAft>
              <a:buSzPts val="1400"/>
              <a:buChar char="–"/>
              <a:defRPr sz="1600"/>
            </a:lvl4pPr>
            <a:lvl5pPr marL="2286000" lvl="4" indent="-317500">
              <a:spcBef>
                <a:spcPts val="400"/>
              </a:spcBef>
              <a:spcAft>
                <a:spcPts val="0"/>
              </a:spcAft>
              <a:buSzPts val="1400"/>
              <a:buChar char="»"/>
              <a:defRPr sz="1600"/>
            </a:lvl5pPr>
            <a:lvl6pPr marL="2743200" lvl="5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600"/>
            </a:lvl6pPr>
            <a:lvl7pPr marL="3200400" lvl="6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600"/>
            </a:lvl7pPr>
            <a:lvl8pPr marL="3657600" lvl="7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600"/>
            </a:lvl8pPr>
            <a:lvl9pPr marL="4114800" lvl="8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600"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-889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5" name="Google Shape;95;p19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-88900" algn="r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/>
          </a:p>
          <a:p>
            <a:pPr marL="457200" lvl="1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sz="1800">
              <a:solidFill>
                <a:schemeClr val="dk1"/>
              </a:solidFill>
            </a:endParaRPr>
          </a:p>
          <a:p>
            <a:pPr marL="914400" lvl="2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 sz="1800">
              <a:solidFill>
                <a:schemeClr val="dk1"/>
              </a:solidFill>
            </a:endParaRPr>
          </a:p>
          <a:p>
            <a:pPr marL="1371600" lvl="3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 sz="1800">
              <a:solidFill>
                <a:schemeClr val="dk1"/>
              </a:solidFill>
            </a:endParaRPr>
          </a:p>
          <a:p>
            <a:pPr marL="1828800" lvl="4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sz="1800">
              <a:solidFill>
                <a:schemeClr val="dk1"/>
              </a:solidFill>
            </a:endParaRPr>
          </a:p>
          <a:p>
            <a:pPr marL="2286000" lvl="5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 sz="1800">
              <a:solidFill>
                <a:schemeClr val="dk1"/>
              </a:solidFill>
            </a:endParaRPr>
          </a:p>
          <a:p>
            <a:pPr marL="2743200" lvl="6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 sz="1800">
              <a:solidFill>
                <a:schemeClr val="dk1"/>
              </a:solidFill>
            </a:endParaRPr>
          </a:p>
          <a:p>
            <a:pPr marL="3200400" lvl="7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sz="1800">
              <a:solidFill>
                <a:schemeClr val="dk1"/>
              </a:solidFill>
            </a:endParaRPr>
          </a:p>
          <a:p>
            <a:pPr marL="3657600" lvl="8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9" name="Google Shape;99;p20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-889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0" name="Google Shape;100;p20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-88900" algn="r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/>
          </a:p>
          <a:p>
            <a:pPr marL="457200" lvl="1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sz="1800">
              <a:solidFill>
                <a:schemeClr val="dk1"/>
              </a:solidFill>
            </a:endParaRPr>
          </a:p>
          <a:p>
            <a:pPr marL="914400" lvl="2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 sz="1800">
              <a:solidFill>
                <a:schemeClr val="dk1"/>
              </a:solidFill>
            </a:endParaRPr>
          </a:p>
          <a:p>
            <a:pPr marL="1371600" lvl="3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 sz="1800">
              <a:solidFill>
                <a:schemeClr val="dk1"/>
              </a:solidFill>
            </a:endParaRPr>
          </a:p>
          <a:p>
            <a:pPr marL="1828800" lvl="4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sz="1800">
              <a:solidFill>
                <a:schemeClr val="dk1"/>
              </a:solidFill>
            </a:endParaRPr>
          </a:p>
          <a:p>
            <a:pPr marL="2286000" lvl="5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 sz="1800">
              <a:solidFill>
                <a:schemeClr val="dk1"/>
              </a:solidFill>
            </a:endParaRPr>
          </a:p>
          <a:p>
            <a:pPr marL="2743200" lvl="6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 sz="1800">
              <a:solidFill>
                <a:schemeClr val="dk1"/>
              </a:solidFill>
            </a:endParaRPr>
          </a:p>
          <a:p>
            <a:pPr marL="3200400" lvl="7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sz="1800">
              <a:solidFill>
                <a:schemeClr val="dk1"/>
              </a:solidFill>
            </a:endParaRPr>
          </a:p>
          <a:p>
            <a:pPr marL="3657600" lvl="8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-889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-88900" algn="r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/>
          </a:p>
          <a:p>
            <a:pPr marL="457200" lvl="1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sz="1800">
              <a:solidFill>
                <a:schemeClr val="dk1"/>
              </a:solidFill>
            </a:endParaRPr>
          </a:p>
          <a:p>
            <a:pPr marL="914400" lvl="2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 sz="1800">
              <a:solidFill>
                <a:schemeClr val="dk1"/>
              </a:solidFill>
            </a:endParaRPr>
          </a:p>
          <a:p>
            <a:pPr marL="1371600" lvl="3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 sz="1800">
              <a:solidFill>
                <a:schemeClr val="dk1"/>
              </a:solidFill>
            </a:endParaRPr>
          </a:p>
          <a:p>
            <a:pPr marL="1828800" lvl="4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sz="1800">
              <a:solidFill>
                <a:schemeClr val="dk1"/>
              </a:solidFill>
            </a:endParaRPr>
          </a:p>
          <a:p>
            <a:pPr marL="2286000" lvl="5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 sz="1800">
              <a:solidFill>
                <a:schemeClr val="dk1"/>
              </a:solidFill>
            </a:endParaRPr>
          </a:p>
          <a:p>
            <a:pPr marL="2743200" lvl="6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 sz="1800">
              <a:solidFill>
                <a:schemeClr val="dk1"/>
              </a:solidFill>
            </a:endParaRPr>
          </a:p>
          <a:p>
            <a:pPr marL="3200400" lvl="7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sz="1800">
              <a:solidFill>
                <a:schemeClr val="dk1"/>
              </a:solidFill>
            </a:endParaRPr>
          </a:p>
          <a:p>
            <a:pPr marL="3657600" lvl="8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2"/>
          <p:cNvSpPr txBox="1">
            <a:spLocks noGrp="1"/>
          </p:cNvSpPr>
          <p:nvPr>
            <p:ph type="title"/>
          </p:nvPr>
        </p:nvSpPr>
        <p:spPr>
          <a:xfrm>
            <a:off x="457200" y="204788"/>
            <a:ext cx="3008400" cy="8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7" name="Google Shape;107;p22"/>
          <p:cNvSpPr txBox="1">
            <a:spLocks noGrp="1"/>
          </p:cNvSpPr>
          <p:nvPr>
            <p:ph type="body" idx="1"/>
          </p:nvPr>
        </p:nvSpPr>
        <p:spPr>
          <a:xfrm>
            <a:off x="3575050" y="204788"/>
            <a:ext cx="5111700" cy="43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640"/>
              </a:spcBef>
              <a:spcAft>
                <a:spcPts val="0"/>
              </a:spcAft>
              <a:buSzPts val="1400"/>
              <a:buChar char="•"/>
              <a:defRPr sz="3200"/>
            </a:lvl1pPr>
            <a:lvl2pPr marL="914400" lvl="1" indent="-317500">
              <a:spcBef>
                <a:spcPts val="560"/>
              </a:spcBef>
              <a:spcAft>
                <a:spcPts val="0"/>
              </a:spcAft>
              <a:buSzPts val="1400"/>
              <a:buChar char="–"/>
              <a:defRPr sz="2800"/>
            </a:lvl2pPr>
            <a:lvl3pPr marL="1371600" lvl="2" indent="-317500">
              <a:spcBef>
                <a:spcPts val="480"/>
              </a:spcBef>
              <a:spcAft>
                <a:spcPts val="0"/>
              </a:spcAft>
              <a:buSzPts val="1400"/>
              <a:buChar char="•"/>
              <a:defRPr sz="2400"/>
            </a:lvl3pPr>
            <a:lvl4pPr marL="1828800" lvl="3" indent="-317500">
              <a:spcBef>
                <a:spcPts val="400"/>
              </a:spcBef>
              <a:spcAft>
                <a:spcPts val="0"/>
              </a:spcAft>
              <a:buSzPts val="1400"/>
              <a:buChar char="–"/>
              <a:defRPr sz="2000"/>
            </a:lvl4pPr>
            <a:lvl5pPr marL="2286000" lvl="4" indent="-317500">
              <a:spcBef>
                <a:spcPts val="400"/>
              </a:spcBef>
              <a:spcAft>
                <a:spcPts val="0"/>
              </a:spcAft>
              <a:buSzPts val="1400"/>
              <a:buChar char="»"/>
              <a:defRPr sz="2000"/>
            </a:lvl5pPr>
            <a:lvl6pPr marL="2743200" lvl="5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2000"/>
            </a:lvl6pPr>
            <a:lvl7pPr marL="3200400" lvl="6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2000"/>
            </a:lvl7pPr>
            <a:lvl8pPr marL="3657600" lvl="7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2000"/>
            </a:lvl8pPr>
            <a:lvl9pPr marL="4114800" lvl="8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2000"/>
            </a:lvl9pPr>
          </a:lstStyle>
          <a:p>
            <a:endParaRPr/>
          </a:p>
        </p:txBody>
      </p:sp>
      <p:sp>
        <p:nvSpPr>
          <p:cNvPr id="108" name="Google Shape;108;p22"/>
          <p:cNvSpPr txBox="1">
            <a:spLocks noGrp="1"/>
          </p:cNvSpPr>
          <p:nvPr>
            <p:ph type="body" idx="2"/>
          </p:nvPr>
        </p:nvSpPr>
        <p:spPr>
          <a:xfrm>
            <a:off x="457200" y="1076325"/>
            <a:ext cx="3008400" cy="3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None/>
              <a:defRPr sz="1400"/>
            </a:lvl1pPr>
            <a:lvl2pPr marL="914400" lvl="1" indent="-228600">
              <a:spcBef>
                <a:spcPts val="560"/>
              </a:spcBef>
              <a:spcAft>
                <a:spcPts val="0"/>
              </a:spcAft>
              <a:buSzPts val="1400"/>
              <a:buFont typeface="Calibri"/>
              <a:buNone/>
              <a:defRPr sz="1200"/>
            </a:lvl2pPr>
            <a:lvl3pPr marL="1371600" lvl="2" indent="-228600">
              <a:spcBef>
                <a:spcPts val="480"/>
              </a:spcBef>
              <a:spcAft>
                <a:spcPts val="0"/>
              </a:spcAft>
              <a:buSzPts val="1400"/>
              <a:buFont typeface="Calibri"/>
              <a:buNone/>
              <a:defRPr sz="1000"/>
            </a:lvl3pPr>
            <a:lvl4pPr marL="1828800" lvl="3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4pPr>
            <a:lvl5pPr marL="2286000" lvl="4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5pPr>
            <a:lvl6pPr marL="2743200" lvl="5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6pPr>
            <a:lvl7pPr marL="3200400" lvl="6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7pPr>
            <a:lvl8pPr marL="3657600" lvl="7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8pPr>
            <a:lvl9pPr marL="4114800" lvl="8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9pPr>
          </a:lstStyle>
          <a:p>
            <a:endParaRPr/>
          </a:p>
        </p:txBody>
      </p:sp>
      <p:sp>
        <p:nvSpPr>
          <p:cNvPr id="109" name="Google Shape;109;p22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-889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-88900" algn="r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/>
          </a:p>
          <a:p>
            <a:pPr marL="457200" lvl="1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sz="1800">
              <a:solidFill>
                <a:schemeClr val="dk1"/>
              </a:solidFill>
            </a:endParaRPr>
          </a:p>
          <a:p>
            <a:pPr marL="914400" lvl="2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 sz="1800">
              <a:solidFill>
                <a:schemeClr val="dk1"/>
              </a:solidFill>
            </a:endParaRPr>
          </a:p>
          <a:p>
            <a:pPr marL="1371600" lvl="3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 sz="1800">
              <a:solidFill>
                <a:schemeClr val="dk1"/>
              </a:solidFill>
            </a:endParaRPr>
          </a:p>
          <a:p>
            <a:pPr marL="1828800" lvl="4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sz="1800">
              <a:solidFill>
                <a:schemeClr val="dk1"/>
              </a:solidFill>
            </a:endParaRPr>
          </a:p>
          <a:p>
            <a:pPr marL="2286000" lvl="5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 sz="1800">
              <a:solidFill>
                <a:schemeClr val="dk1"/>
              </a:solidFill>
            </a:endParaRPr>
          </a:p>
          <a:p>
            <a:pPr marL="2743200" lvl="6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 sz="1800">
              <a:solidFill>
                <a:schemeClr val="dk1"/>
              </a:solidFill>
            </a:endParaRPr>
          </a:p>
          <a:p>
            <a:pPr marL="3200400" lvl="7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sz="1800">
              <a:solidFill>
                <a:schemeClr val="dk1"/>
              </a:solidFill>
            </a:endParaRPr>
          </a:p>
          <a:p>
            <a:pPr marL="3657600" lvl="8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4" name="Google Shape;114;p23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3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>
            <a:off x="1792288" y="4025504"/>
            <a:ext cx="5486400" cy="6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None/>
              <a:defRPr sz="1400"/>
            </a:lvl1pPr>
            <a:lvl2pPr marL="914400" lvl="1" indent="-228600">
              <a:spcBef>
                <a:spcPts val="560"/>
              </a:spcBef>
              <a:spcAft>
                <a:spcPts val="0"/>
              </a:spcAft>
              <a:buSzPts val="1400"/>
              <a:buFont typeface="Calibri"/>
              <a:buNone/>
              <a:defRPr sz="1200"/>
            </a:lvl2pPr>
            <a:lvl3pPr marL="1371600" lvl="2" indent="-228600">
              <a:spcBef>
                <a:spcPts val="480"/>
              </a:spcBef>
              <a:spcAft>
                <a:spcPts val="0"/>
              </a:spcAft>
              <a:buSzPts val="1400"/>
              <a:buFont typeface="Calibri"/>
              <a:buNone/>
              <a:defRPr sz="1000"/>
            </a:lvl3pPr>
            <a:lvl4pPr marL="1828800" lvl="3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4pPr>
            <a:lvl5pPr marL="2286000" lvl="4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5pPr>
            <a:lvl6pPr marL="2743200" lvl="5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6pPr>
            <a:lvl7pPr marL="3200400" lvl="6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7pPr>
            <a:lvl8pPr marL="3657600" lvl="7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8pPr>
            <a:lvl9pPr marL="4114800" lvl="8" indent="-228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-889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-88900" algn="r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/>
          </a:p>
          <a:p>
            <a:pPr marL="457200" lvl="1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sz="1800">
              <a:solidFill>
                <a:schemeClr val="dk1"/>
              </a:solidFill>
            </a:endParaRPr>
          </a:p>
          <a:p>
            <a:pPr marL="914400" lvl="2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 sz="1800">
              <a:solidFill>
                <a:schemeClr val="dk1"/>
              </a:solidFill>
            </a:endParaRPr>
          </a:p>
          <a:p>
            <a:pPr marL="1371600" lvl="3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 sz="1800">
              <a:solidFill>
                <a:schemeClr val="dk1"/>
              </a:solidFill>
            </a:endParaRPr>
          </a:p>
          <a:p>
            <a:pPr marL="1828800" lvl="4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sz="1800">
              <a:solidFill>
                <a:schemeClr val="dk1"/>
              </a:solidFill>
            </a:endParaRPr>
          </a:p>
          <a:p>
            <a:pPr marL="2286000" lvl="5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 sz="1800">
              <a:solidFill>
                <a:schemeClr val="dk1"/>
              </a:solidFill>
            </a:endParaRPr>
          </a:p>
          <a:p>
            <a:pPr marL="2743200" lvl="6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 sz="1800">
              <a:solidFill>
                <a:schemeClr val="dk1"/>
              </a:solidFill>
            </a:endParaRPr>
          </a:p>
          <a:p>
            <a:pPr marL="3200400" lvl="7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sz="1800">
              <a:solidFill>
                <a:schemeClr val="dk1"/>
              </a:solidFill>
            </a:endParaRPr>
          </a:p>
          <a:p>
            <a:pPr marL="3657600" lvl="8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 rot="5400000">
            <a:off x="2874750" y="-1217400"/>
            <a:ext cx="33945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175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3175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»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-889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-88900" algn="r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/>
          </a:p>
          <a:p>
            <a:pPr marL="457200" lvl="1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sz="1800">
              <a:solidFill>
                <a:schemeClr val="dk1"/>
              </a:solidFill>
            </a:endParaRPr>
          </a:p>
          <a:p>
            <a:pPr marL="914400" lvl="2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 sz="1800">
              <a:solidFill>
                <a:schemeClr val="dk1"/>
              </a:solidFill>
            </a:endParaRPr>
          </a:p>
          <a:p>
            <a:pPr marL="1371600" lvl="3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 sz="1800">
              <a:solidFill>
                <a:schemeClr val="dk1"/>
              </a:solidFill>
            </a:endParaRPr>
          </a:p>
          <a:p>
            <a:pPr marL="1828800" lvl="4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sz="1800">
              <a:solidFill>
                <a:schemeClr val="dk1"/>
              </a:solidFill>
            </a:endParaRPr>
          </a:p>
          <a:p>
            <a:pPr marL="2286000" lvl="5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 sz="1800">
              <a:solidFill>
                <a:schemeClr val="dk1"/>
              </a:solidFill>
            </a:endParaRPr>
          </a:p>
          <a:p>
            <a:pPr marL="2743200" lvl="6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 sz="1800">
              <a:solidFill>
                <a:schemeClr val="dk1"/>
              </a:solidFill>
            </a:endParaRPr>
          </a:p>
          <a:p>
            <a:pPr marL="3200400" lvl="7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sz="1800">
              <a:solidFill>
                <a:schemeClr val="dk1"/>
              </a:solidFill>
            </a:endParaRPr>
          </a:p>
          <a:p>
            <a:pPr marL="3657600" lvl="8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>
            <a:spLocks noGrp="1"/>
          </p:cNvSpPr>
          <p:nvPr>
            <p:ph type="title"/>
          </p:nvPr>
        </p:nvSpPr>
        <p:spPr>
          <a:xfrm rot="5400000">
            <a:off x="5463750" y="1371628"/>
            <a:ext cx="43887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25"/>
          <p:cNvSpPr txBox="1">
            <a:spLocks noGrp="1"/>
          </p:cNvSpPr>
          <p:nvPr>
            <p:ph type="body" idx="1"/>
          </p:nvPr>
        </p:nvSpPr>
        <p:spPr>
          <a:xfrm rot="5400000">
            <a:off x="1272750" y="-609572"/>
            <a:ext cx="438870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175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3175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»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8" name="Google Shape;128;p25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9" name="Google Shape;129;p25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-889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0" name="Google Shape;130;p2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-88900" algn="r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/>
          </a:p>
          <a:p>
            <a:pPr marL="457200" lvl="1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sz="1800">
              <a:solidFill>
                <a:schemeClr val="dk1"/>
              </a:solidFill>
            </a:endParaRPr>
          </a:p>
          <a:p>
            <a:pPr marL="914400" lvl="2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 sz="1800">
              <a:solidFill>
                <a:schemeClr val="dk1"/>
              </a:solidFill>
            </a:endParaRPr>
          </a:p>
          <a:p>
            <a:pPr marL="1371600" lvl="3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 sz="1800">
              <a:solidFill>
                <a:schemeClr val="dk1"/>
              </a:solidFill>
            </a:endParaRPr>
          </a:p>
          <a:p>
            <a:pPr marL="1828800" lvl="4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sz="1800">
              <a:solidFill>
                <a:schemeClr val="dk1"/>
              </a:solidFill>
            </a:endParaRPr>
          </a:p>
          <a:p>
            <a:pPr marL="2286000" lvl="5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 sz="1800">
              <a:solidFill>
                <a:schemeClr val="dk1"/>
              </a:solidFill>
            </a:endParaRPr>
          </a:p>
          <a:p>
            <a:pPr marL="2743200" lvl="6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 sz="1800">
              <a:solidFill>
                <a:schemeClr val="dk1"/>
              </a:solidFill>
            </a:endParaRPr>
          </a:p>
          <a:p>
            <a:pPr marL="3200400" lvl="7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sz="1800">
              <a:solidFill>
                <a:schemeClr val="dk1"/>
              </a:solidFill>
            </a:endParaRPr>
          </a:p>
          <a:p>
            <a:pPr marL="3657600" lvl="8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0" marR="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0" marR="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0" marR="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0" marR="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0" marR="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0" marR="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0" marR="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-889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-8890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-8890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-8890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-88900" algn="r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/>
          </a:p>
          <a:p>
            <a:pPr marL="457200" lvl="1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sz="1800">
              <a:solidFill>
                <a:schemeClr val="dk1"/>
              </a:solidFill>
            </a:endParaRPr>
          </a:p>
          <a:p>
            <a:pPr marL="914400" lvl="2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 sz="1800">
              <a:solidFill>
                <a:schemeClr val="dk1"/>
              </a:solidFill>
            </a:endParaRPr>
          </a:p>
          <a:p>
            <a:pPr marL="1371600" lvl="3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 sz="1800">
              <a:solidFill>
                <a:schemeClr val="dk1"/>
              </a:solidFill>
            </a:endParaRPr>
          </a:p>
          <a:p>
            <a:pPr marL="1828800" lvl="4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sz="1800">
              <a:solidFill>
                <a:schemeClr val="dk1"/>
              </a:solidFill>
            </a:endParaRPr>
          </a:p>
          <a:p>
            <a:pPr marL="2286000" lvl="5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 sz="1800">
              <a:solidFill>
                <a:schemeClr val="dk1"/>
              </a:solidFill>
            </a:endParaRPr>
          </a:p>
          <a:p>
            <a:pPr marL="2743200" lvl="6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 sz="1800">
              <a:solidFill>
                <a:schemeClr val="dk1"/>
              </a:solidFill>
            </a:endParaRPr>
          </a:p>
          <a:p>
            <a:pPr marL="3200400" lvl="7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sz="1800">
              <a:solidFill>
                <a:schemeClr val="dk1"/>
              </a:solidFill>
            </a:endParaRPr>
          </a:p>
          <a:p>
            <a:pPr marL="3657600" lvl="8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 sz="1800">
              <a:solidFill>
                <a:schemeClr val="dk1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groups.lis.illinois.edu/amag/langev/author/pkkuhl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hyperlink" Target="http://groups.lis.illinois.edu/amag/langev/pubtype/article_NatureReviewsNeuroscience.html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>
            <a:spLocks noGrp="1"/>
          </p:cNvSpPr>
          <p:nvPr>
            <p:ph type="ctrTitle"/>
          </p:nvPr>
        </p:nvSpPr>
        <p:spPr>
          <a:xfrm>
            <a:off x="722550" y="354701"/>
            <a:ext cx="7698900" cy="156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ct val="27654"/>
              <a:buNone/>
            </a:pPr>
            <a:r>
              <a:rPr lang="en" sz="3580"/>
              <a:t>Recurrent networks trained on statistical learning tasks reveal principles of neural sequence representation</a:t>
            </a:r>
            <a:endParaRPr sz="3580"/>
          </a:p>
        </p:txBody>
      </p:sp>
      <p:pic>
        <p:nvPicPr>
          <p:cNvPr id="136" name="Google Shape;136;p26"/>
          <p:cNvPicPr preferRelativeResize="0"/>
          <p:nvPr/>
        </p:nvPicPr>
        <p:blipFill rotWithShape="1">
          <a:blip r:embed="rId3">
            <a:alphaModFix/>
          </a:blip>
          <a:srcRect t="6358" r="45304"/>
          <a:stretch/>
        </p:blipFill>
        <p:spPr>
          <a:xfrm>
            <a:off x="1767225" y="2114725"/>
            <a:ext cx="5609549" cy="248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big picture</a:t>
            </a:r>
            <a:endParaRPr/>
          </a:p>
        </p:txBody>
      </p:sp>
      <p:sp>
        <p:nvSpPr>
          <p:cNvPr id="142" name="Google Shape;142;p27"/>
          <p:cNvSpPr txBox="1">
            <a:spLocks noGrp="1"/>
          </p:cNvSpPr>
          <p:nvPr>
            <p:ph type="body" idx="1"/>
          </p:nvPr>
        </p:nvSpPr>
        <p:spPr>
          <a:xfrm>
            <a:off x="349600" y="1689575"/>
            <a:ext cx="8520600" cy="19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The brain needs to store and represent sequences of primitives (phonemes-&gt;words, muscle movements-&gt;motor sequences, etc.).</a:t>
            </a:r>
            <a:br>
              <a:rPr lang="en"/>
            </a:br>
            <a:br>
              <a:rPr lang="en"/>
            </a:br>
            <a:r>
              <a:rPr lang="en"/>
              <a:t>How are these representations stored in the brain, and how are they recalled/produced in a sequential manner?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1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Statistical Learning and Language Acquisition</a:t>
            </a:r>
            <a:br>
              <a:rPr lang="en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31"/>
          <p:cNvSpPr txBox="1">
            <a:spLocks noGrp="1"/>
          </p:cNvSpPr>
          <p:nvPr>
            <p:ph type="body" idx="1"/>
          </p:nvPr>
        </p:nvSpPr>
        <p:spPr>
          <a:xfrm>
            <a:off x="533400" y="571500"/>
            <a:ext cx="8229600" cy="38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342900" marR="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•"/>
            </a:pPr>
            <a:r>
              <a:rPr lang="en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Saffran, Newport, Aslin. Science (1996). “Statistical Learning By 8-Month-Old Infants.”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238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•"/>
            </a:pPr>
            <a:r>
              <a:rPr lang="en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do infants learn to segment  auditory information into individual words?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397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60000"/>
              <a:buFont typeface="Calibri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397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60000"/>
              <a:buFont typeface="Calibri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endParaRPr sz="2000"/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endParaRPr sz="2000"/>
          </a:p>
          <a:p>
            <a:pPr marL="0" marR="0" lvl="0" indent="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Font typeface="Calibri"/>
              <a:buNone/>
            </a:pPr>
            <a:r>
              <a:rPr lang="en" sz="10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Kuhl, P. K.</a:t>
            </a:r>
            <a:r>
              <a:rPr lang="en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(2004) Early language acquisition: cracking the speech code. </a:t>
            </a:r>
            <a:r>
              <a:rPr lang="en" sz="1000" b="0" i="1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Nature Reviews Neuroscience</a:t>
            </a:r>
            <a:r>
              <a:rPr lang="en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5(11):831--843.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" name="Google Shape;167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0100" y="2446904"/>
            <a:ext cx="7696200" cy="17180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2"/>
          <p:cNvSpPr txBox="1">
            <a:spLocks noGrp="1"/>
          </p:cNvSpPr>
          <p:nvPr>
            <p:ph type="title"/>
          </p:nvPr>
        </p:nvSpPr>
        <p:spPr>
          <a:xfrm>
            <a:off x="310125" y="171450"/>
            <a:ext cx="8376600" cy="6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Statistical Language Segmentation: Saffran Experiment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32"/>
          <p:cNvSpPr txBox="1">
            <a:spLocks noGrp="1"/>
          </p:cNvSpPr>
          <p:nvPr>
            <p:ph type="body" idx="1"/>
          </p:nvPr>
        </p:nvSpPr>
        <p:spPr>
          <a:xfrm>
            <a:off x="457200" y="971550"/>
            <a:ext cx="8229600" cy="26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lang="en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Pseudo-words, like </a:t>
            </a:r>
            <a:r>
              <a:rPr lang="en" sz="1400" b="1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bupa</a:t>
            </a:r>
            <a:r>
              <a:rPr lang="en" sz="1400" b="1" i="1"/>
              <a:t>do</a:t>
            </a:r>
            <a:r>
              <a:rPr lang="en" sz="1400" b="1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r>
              <a:rPr lang="en" sz="1400"/>
              <a:t> </a:t>
            </a:r>
            <a:r>
              <a:rPr lang="en" sz="1400" b="1" i="1"/>
              <a:t>ku</a:t>
            </a:r>
            <a:r>
              <a:rPr lang="en" sz="1400" b="1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taba</a:t>
            </a:r>
            <a:r>
              <a:rPr lang="en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were randomly concatenated and presented to infa</a:t>
            </a:r>
            <a:r>
              <a:rPr lang="en" sz="1400"/>
              <a:t>nts </a:t>
            </a:r>
            <a:r>
              <a:rPr lang="en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sequences such as: 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 b="1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bupad</a:t>
            </a:r>
            <a:r>
              <a:rPr lang="en" sz="3300" b="1" i="1"/>
              <a:t>oku</a:t>
            </a:r>
            <a:r>
              <a:rPr lang="en" sz="3300" b="1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taba</a:t>
            </a:r>
            <a:r>
              <a:rPr lang="en" sz="3300" b="1" i="1"/>
              <a:t>ku</a:t>
            </a:r>
            <a:r>
              <a:rPr lang="en" sz="3300" b="1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tababupa</a:t>
            </a:r>
            <a:r>
              <a:rPr lang="en" sz="3300" b="1" i="1"/>
              <a:t>do</a:t>
            </a:r>
            <a:r>
              <a:rPr lang="en" sz="3300" b="1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bupa</a:t>
            </a:r>
            <a:r>
              <a:rPr lang="en" sz="3300" b="1" i="1"/>
              <a:t>doku</a:t>
            </a:r>
            <a:r>
              <a:rPr lang="en" sz="3300" b="1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taba </a:t>
            </a: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342900" marR="0" lvl="0" indent="-3048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lang="en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a probing session, infants demonstrated a greater familiarity with the “words”, </a:t>
            </a:r>
            <a:r>
              <a:rPr lang="en" sz="14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bupa</a:t>
            </a:r>
            <a:r>
              <a:rPr lang="en" sz="1400" i="1"/>
              <a:t>do</a:t>
            </a:r>
            <a:r>
              <a:rPr lang="en" sz="14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lang="en" sz="1400" i="1"/>
              <a:t>ku</a:t>
            </a:r>
            <a:r>
              <a:rPr lang="en" sz="14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taba, </a:t>
            </a:r>
            <a:r>
              <a:rPr lang="en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lang="en" sz="1400"/>
              <a:t>a</a:t>
            </a:r>
            <a:r>
              <a:rPr lang="en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they did with non-words that crossed word boun</a:t>
            </a:r>
            <a:r>
              <a:rPr lang="en" sz="1400"/>
              <a:t>da</a:t>
            </a:r>
            <a:r>
              <a:rPr lang="en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ries, like </a:t>
            </a:r>
            <a:r>
              <a:rPr lang="en" sz="14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</a:t>
            </a:r>
            <a:r>
              <a:rPr lang="en" sz="1400" i="1"/>
              <a:t>doku</a:t>
            </a:r>
            <a:endParaRPr sz="14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400" i="1"/>
          </a:p>
          <a:p>
            <a:pPr marL="342900" marR="0" lvl="0" indent="-3048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lang="en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Conclusion: transitional probabilities between syllables allow infants to segment speech into indivi</a:t>
            </a:r>
            <a:r>
              <a:rPr lang="en" sz="1400"/>
              <a:t>du</a:t>
            </a:r>
            <a:r>
              <a:rPr lang="en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 words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" sz="4000"/>
              <a:t>bu pa do ku ta ba</a:t>
            </a:r>
            <a:endParaRPr sz="4000"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endParaRPr sz="4000"/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endParaRPr sz="2400"/>
          </a:p>
          <a:p>
            <a:pPr marL="0" lvl="0" indent="0" algn="ctr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endParaRPr sz="4000"/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endParaRPr sz="4000"/>
          </a:p>
        </p:txBody>
      </p:sp>
      <p:grpSp>
        <p:nvGrpSpPr>
          <p:cNvPr id="174" name="Google Shape;174;p32"/>
          <p:cNvGrpSpPr/>
          <p:nvPr/>
        </p:nvGrpSpPr>
        <p:grpSpPr>
          <a:xfrm>
            <a:off x="3105075" y="3797980"/>
            <a:ext cx="2933850" cy="380408"/>
            <a:chOff x="3105075" y="3584430"/>
            <a:chExt cx="2933850" cy="380408"/>
          </a:xfrm>
        </p:grpSpPr>
        <p:sp>
          <p:nvSpPr>
            <p:cNvPr id="175" name="Google Shape;175;p32"/>
            <p:cNvSpPr/>
            <p:nvPr/>
          </p:nvSpPr>
          <p:spPr>
            <a:xfrm>
              <a:off x="3686100" y="3850538"/>
              <a:ext cx="381000" cy="114300"/>
            </a:xfrm>
            <a:prstGeom prst="curvedDownArrow">
              <a:avLst>
                <a:gd name="adj1" fmla="val 25000"/>
                <a:gd name="adj2" fmla="val 50000"/>
                <a:gd name="adj3" fmla="val 25000"/>
              </a:avLst>
            </a:prstGeom>
            <a:solidFill>
              <a:schemeClr val="accent1"/>
            </a:solidFill>
            <a:ln w="25400" cap="flat" cmpd="sng">
              <a:solidFill>
                <a:srgbClr val="395E8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32"/>
            <p:cNvSpPr/>
            <p:nvPr/>
          </p:nvSpPr>
          <p:spPr>
            <a:xfrm>
              <a:off x="4371900" y="3836250"/>
              <a:ext cx="381000" cy="114300"/>
            </a:xfrm>
            <a:prstGeom prst="curvedDownArrow">
              <a:avLst>
                <a:gd name="adj1" fmla="val 25000"/>
                <a:gd name="adj2" fmla="val 50000"/>
                <a:gd name="adj3" fmla="val 25000"/>
              </a:avLst>
            </a:prstGeom>
            <a:solidFill>
              <a:schemeClr val="accent1"/>
            </a:solidFill>
            <a:ln w="25400" cap="flat" cmpd="sng">
              <a:solidFill>
                <a:srgbClr val="395E8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32"/>
            <p:cNvSpPr/>
            <p:nvPr/>
          </p:nvSpPr>
          <p:spPr>
            <a:xfrm>
              <a:off x="5019600" y="3843394"/>
              <a:ext cx="381000" cy="114300"/>
            </a:xfrm>
            <a:prstGeom prst="curvedDownArrow">
              <a:avLst>
                <a:gd name="adj1" fmla="val 25000"/>
                <a:gd name="adj2" fmla="val 50000"/>
                <a:gd name="adj3" fmla="val 25000"/>
              </a:avLst>
            </a:prstGeom>
            <a:solidFill>
              <a:schemeClr val="accent1"/>
            </a:solidFill>
            <a:ln w="25400" cap="flat" cmpd="sng">
              <a:solidFill>
                <a:srgbClr val="395E8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32"/>
            <p:cNvSpPr/>
            <p:nvPr/>
          </p:nvSpPr>
          <p:spPr>
            <a:xfrm>
              <a:off x="5591100" y="3843394"/>
              <a:ext cx="381000" cy="114300"/>
            </a:xfrm>
            <a:prstGeom prst="curvedDownArrow">
              <a:avLst>
                <a:gd name="adj1" fmla="val 25000"/>
                <a:gd name="adj2" fmla="val 50000"/>
                <a:gd name="adj3" fmla="val 25000"/>
              </a:avLst>
            </a:prstGeom>
            <a:solidFill>
              <a:schemeClr val="accent1"/>
            </a:solidFill>
            <a:ln w="25400" cap="flat" cmpd="sng">
              <a:solidFill>
                <a:srgbClr val="395E8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32"/>
            <p:cNvSpPr txBox="1"/>
            <p:nvPr/>
          </p:nvSpPr>
          <p:spPr>
            <a:xfrm>
              <a:off x="3105075" y="3608095"/>
              <a:ext cx="514500" cy="23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1.0</a:t>
              </a: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0" name="Google Shape;180;p32"/>
            <p:cNvGrpSpPr/>
            <p:nvPr/>
          </p:nvGrpSpPr>
          <p:grpSpPr>
            <a:xfrm>
              <a:off x="3152700" y="3584430"/>
              <a:ext cx="2886225" cy="380408"/>
              <a:chOff x="3152700" y="3584430"/>
              <a:chExt cx="2886225" cy="380408"/>
            </a:xfrm>
          </p:grpSpPr>
          <p:sp>
            <p:nvSpPr>
              <p:cNvPr id="181" name="Google Shape;181;p32"/>
              <p:cNvSpPr/>
              <p:nvPr/>
            </p:nvSpPr>
            <p:spPr>
              <a:xfrm>
                <a:off x="3152700" y="3850538"/>
                <a:ext cx="381000" cy="114300"/>
              </a:xfrm>
              <a:prstGeom prst="curvedDownArrow">
                <a:avLst>
                  <a:gd name="adj1" fmla="val 25000"/>
                  <a:gd name="adj2" fmla="val 50000"/>
                  <a:gd name="adj3" fmla="val 25000"/>
                </a:avLst>
              </a:prstGeom>
              <a:solidFill>
                <a:schemeClr val="accent1"/>
              </a:solidFill>
              <a:ln w="25400" cap="flat" cmpd="sng">
                <a:solidFill>
                  <a:srgbClr val="395E8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32"/>
              <p:cNvSpPr txBox="1"/>
              <p:nvPr/>
            </p:nvSpPr>
            <p:spPr>
              <a:xfrm>
                <a:off x="3686100" y="3605417"/>
                <a:ext cx="514500" cy="23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1.0</a:t>
                </a: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" name="Google Shape;183;p32"/>
              <p:cNvSpPr txBox="1"/>
              <p:nvPr/>
            </p:nvSpPr>
            <p:spPr>
              <a:xfrm>
                <a:off x="4952925" y="3584430"/>
                <a:ext cx="514500" cy="23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1.0</a:t>
                </a: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" name="Google Shape;184;p32"/>
              <p:cNvSpPr txBox="1"/>
              <p:nvPr/>
            </p:nvSpPr>
            <p:spPr>
              <a:xfrm>
                <a:off x="5524425" y="3589341"/>
                <a:ext cx="514500" cy="23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1.0</a:t>
                </a: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" name="Google Shape;185;p32"/>
              <p:cNvSpPr txBox="1"/>
              <p:nvPr/>
            </p:nvSpPr>
            <p:spPr>
              <a:xfrm>
                <a:off x="4305225" y="3605417"/>
                <a:ext cx="514500" cy="23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0.5</a:t>
                </a: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A5862-12B9-F403-A1EF-76E0A1E6D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Generic statistical learning</a:t>
            </a:r>
            <a:endParaRPr lang="en-I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CB0D35-F5BB-39FD-162C-B5260F9BF180}"/>
              </a:ext>
            </a:extLst>
          </p:cNvPr>
          <p:cNvSpPr txBox="1"/>
          <p:nvPr/>
        </p:nvSpPr>
        <p:spPr>
          <a:xfrm>
            <a:off x="4537788" y="4598968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L" sz="800" b="0" i="0" dirty="0">
                <a:solidFill>
                  <a:srgbClr val="222222"/>
                </a:solidFill>
                <a:effectLst/>
                <a:latin typeface="-apple-system"/>
              </a:rPr>
              <a:t>Sun, W., </a:t>
            </a:r>
            <a:r>
              <a:rPr lang="en-IL" sz="800" b="0" i="0" dirty="0" err="1">
                <a:solidFill>
                  <a:srgbClr val="222222"/>
                </a:solidFill>
                <a:effectLst/>
                <a:latin typeface="-apple-system"/>
              </a:rPr>
              <a:t>Winnubst</a:t>
            </a:r>
            <a:r>
              <a:rPr lang="en-IL" sz="800" b="0" i="0" dirty="0">
                <a:solidFill>
                  <a:srgbClr val="222222"/>
                </a:solidFill>
                <a:effectLst/>
                <a:latin typeface="-apple-system"/>
              </a:rPr>
              <a:t>, J., Natrajan, M. </a:t>
            </a:r>
            <a:r>
              <a:rPr lang="en-IL" sz="800" b="0" i="1" dirty="0">
                <a:solidFill>
                  <a:srgbClr val="222222"/>
                </a:solidFill>
                <a:effectLst/>
                <a:latin typeface="-apple-system"/>
              </a:rPr>
              <a:t>et al.</a:t>
            </a:r>
            <a:r>
              <a:rPr lang="en-IL" sz="800" b="0" i="0" dirty="0">
                <a:solidFill>
                  <a:srgbClr val="222222"/>
                </a:solidFill>
                <a:effectLst/>
                <a:latin typeface="-apple-system"/>
              </a:rPr>
              <a:t> Learning produces an orthogonalized state machine in the hippocampus. </a:t>
            </a:r>
            <a:r>
              <a:rPr lang="en-IL" sz="800" b="0" i="1" dirty="0">
                <a:solidFill>
                  <a:srgbClr val="222222"/>
                </a:solidFill>
                <a:effectLst/>
                <a:latin typeface="-apple-system"/>
              </a:rPr>
              <a:t>Nature</a:t>
            </a:r>
            <a:r>
              <a:rPr lang="en-IL" sz="800" b="0" i="0" dirty="0">
                <a:solidFill>
                  <a:srgbClr val="222222"/>
                </a:solidFill>
                <a:effectLst/>
                <a:latin typeface="-apple-system"/>
              </a:rPr>
              <a:t> </a:t>
            </a:r>
            <a:r>
              <a:rPr lang="en-IL" sz="800" b="1" i="0" dirty="0">
                <a:solidFill>
                  <a:srgbClr val="222222"/>
                </a:solidFill>
                <a:effectLst/>
                <a:latin typeface="-apple-system"/>
              </a:rPr>
              <a:t>640</a:t>
            </a:r>
            <a:r>
              <a:rPr lang="en-IL" sz="800" b="0" i="0" dirty="0">
                <a:solidFill>
                  <a:srgbClr val="222222"/>
                </a:solidFill>
                <a:effectLst/>
                <a:latin typeface="-apple-system"/>
              </a:rPr>
              <a:t>, 165–175 (2025). https://doi.org/10.1038/s41586-024-08548-w</a:t>
            </a:r>
            <a:endParaRPr lang="en-IL" sz="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EBCCC5-B125-A9A5-B7C2-E468C51F6C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4894" y="1112017"/>
            <a:ext cx="2878238" cy="278671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ECF4947-883D-0D09-BD96-0E900D7753FD}"/>
              </a:ext>
            </a:extLst>
          </p:cNvPr>
          <p:cNvSpPr txBox="1"/>
          <p:nvPr/>
        </p:nvSpPr>
        <p:spPr>
          <a:xfrm>
            <a:off x="1921566" y="4094963"/>
            <a:ext cx="55674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22222"/>
                </a:solidFill>
                <a:effectLst/>
                <a:latin typeface="-apple-system"/>
              </a:rPr>
              <a:t>The two maze conditions are like two ‘words’ that need to be memorized.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19064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Assumptions</a:t>
            </a:r>
            <a:endParaRPr/>
          </a:p>
        </p:txBody>
      </p:sp>
      <p:sp>
        <p:nvSpPr>
          <p:cNvPr id="148" name="Google Shape;148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457200" lvl="0" indent="-334328" algn="l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To a first approximation, the brain is a recurrent neural network.</a:t>
            </a:r>
            <a:endParaRPr/>
          </a:p>
          <a:p>
            <a:pPr marL="457200" lvl="0" indent="-334328" algn="l" rtl="0">
              <a:spcBef>
                <a:spcPts val="100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The output of the brain at any given time is a function of the </a:t>
            </a:r>
            <a:r>
              <a:rPr lang="en" i="1"/>
              <a:t>state </a:t>
            </a:r>
            <a:r>
              <a:rPr lang="en"/>
              <a:t>of the network at that time; the output of the network over a period of time is a </a:t>
            </a:r>
            <a:r>
              <a:rPr lang="en" i="1"/>
              <a:t>trajectory</a:t>
            </a:r>
            <a:r>
              <a:rPr lang="en"/>
              <a:t> through the state space.</a:t>
            </a:r>
            <a:endParaRPr/>
          </a:p>
          <a:p>
            <a:pPr marL="457200" lvl="0" indent="-334328" algn="l" rtl="0">
              <a:spcBef>
                <a:spcPts val="100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The brain originally learns sequences without any prior assumptions about sequence structure; all learned structure is emergent from naive next token prediction.</a:t>
            </a:r>
            <a:endParaRPr/>
          </a:p>
          <a:p>
            <a:pPr marL="457200" lvl="0" indent="-334328" algn="l" rtl="0">
              <a:spcBef>
                <a:spcPts val="100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Once learned, the brain produces sequences via a closed loop process - it generates (predicts) a token, which is fed as an input to the network at the next time step.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Specific questions to be addressed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76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457200" lvl="0" indent="-317183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What do trajectory geometries generally look like for learned sequences (words)?</a:t>
            </a:r>
            <a:endParaRPr/>
          </a:p>
          <a:p>
            <a:pPr marL="457200" lvl="0" indent="-317183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How stable is the representational geometry over multiple random seeds? (Multiple realizability).</a:t>
            </a:r>
            <a:endParaRPr/>
          </a:p>
          <a:p>
            <a:pPr marL="457200" lvl="0" indent="-317183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How does word length influence trajectory geometry?</a:t>
            </a:r>
            <a:endParaRPr/>
          </a:p>
          <a:p>
            <a:pPr marL="457200" lvl="0" indent="-317183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How does the number of words stored influence trajectory geometry?</a:t>
            </a:r>
            <a:endParaRPr/>
          </a:p>
          <a:p>
            <a:pPr marL="457200" lvl="0" indent="-317183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Why does the trajectory geometry look the way it does?</a:t>
            </a:r>
            <a:endParaRPr/>
          </a:p>
          <a:p>
            <a:pPr marL="457200" lvl="0" indent="-317183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What sort of features (specific token, position in sequence, DFA state) are easily read out of the neural representation?</a:t>
            </a:r>
            <a:endParaRPr/>
          </a:p>
          <a:p>
            <a:pPr marL="457200" lvl="0" indent="-317183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What sort of features do we see in single-neuron responses?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 be addressed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76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en" sz="2100"/>
              <a:t>How is lexical information (word position, character, etc.) represented in a recurrent network that learns to produce words?</a:t>
            </a:r>
            <a:endParaRPr sz="2100"/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100"/>
          </a:p>
          <a:p>
            <a:pPr marL="457200" lvl="0" indent="-3619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100"/>
              <a:buAutoNum type="arabicPeriod"/>
            </a:pPr>
            <a:r>
              <a:rPr lang="en" sz="2100"/>
              <a:t>How does network’s representation of information change with vocabulary complexity?</a:t>
            </a:r>
            <a:endParaRPr sz="2100"/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100"/>
          </a:p>
          <a:p>
            <a:pPr marL="457200" lvl="0" indent="-3619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100"/>
              <a:buAutoNum type="arabicPeriod"/>
            </a:pPr>
            <a:r>
              <a:rPr lang="en" sz="2100"/>
              <a:t>How do the network’s </a:t>
            </a:r>
            <a:r>
              <a:rPr lang="en" sz="2100" i="1"/>
              <a:t>weights </a:t>
            </a:r>
            <a:r>
              <a:rPr lang="en" sz="2100"/>
              <a:t>differ as a function of the complexity of the learned vocabulary (function-&gt;structure).</a:t>
            </a:r>
            <a:endParaRPr sz="2100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3"/>
          <p:cNvSpPr txBox="1">
            <a:spLocks noGrp="1"/>
          </p:cNvSpPr>
          <p:nvPr>
            <p:ph type="title"/>
          </p:nvPr>
        </p:nvSpPr>
        <p:spPr>
          <a:xfrm>
            <a:off x="421900" y="111803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Vocabularies for statistical learning</a:t>
            </a:r>
            <a:endParaRPr sz="3600"/>
          </a:p>
        </p:txBody>
      </p:sp>
      <p:pic>
        <p:nvPicPr>
          <p:cNvPr id="191" name="Google Shape;19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8500" y="969203"/>
            <a:ext cx="5827008" cy="3869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4"/>
          <p:cNvSpPr txBox="1">
            <a:spLocks noGrp="1"/>
          </p:cNvSpPr>
          <p:nvPr>
            <p:ph type="title"/>
          </p:nvPr>
        </p:nvSpPr>
        <p:spPr>
          <a:xfrm>
            <a:off x="457200" y="70643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 an RNN</a:t>
            </a:r>
            <a:endParaRPr/>
          </a:p>
        </p:txBody>
      </p:sp>
      <p:pic>
        <p:nvPicPr>
          <p:cNvPr id="197" name="Google Shape;19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788" y="1033358"/>
            <a:ext cx="8246435" cy="3775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</a:t>
            </a:r>
            <a:endParaRPr/>
          </a:p>
        </p:txBody>
      </p:sp>
      <p:pic>
        <p:nvPicPr>
          <p:cNvPr id="203" name="Google Shape;203;p35"/>
          <p:cNvPicPr preferRelativeResize="0"/>
          <p:nvPr/>
        </p:nvPicPr>
        <p:blipFill rotWithShape="1">
          <a:blip r:embed="rId3">
            <a:alphaModFix/>
          </a:blip>
          <a:srcRect t="19711"/>
          <a:stretch/>
        </p:blipFill>
        <p:spPr>
          <a:xfrm>
            <a:off x="175950" y="1335050"/>
            <a:ext cx="8839200" cy="302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154305"/>
            <a:ext cx="877824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Minimal DFAs for three small vocabularies</a:t>
            </a:r>
          </a:p>
        </p:txBody>
      </p:sp>
      <p:pic>
        <p:nvPicPr>
          <p:cNvPr id="3" name="Picture 2" descr="fig_dfa_exampl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88" y="822960"/>
            <a:ext cx="8649622" cy="416623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154305"/>
            <a:ext cx="877824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Demo vocabulary and training stream</a:t>
            </a:r>
          </a:p>
        </p:txBody>
      </p:sp>
      <p:pic>
        <p:nvPicPr>
          <p:cNvPr id="3" name="Picture 2" descr="fig04_corpus_stre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497901"/>
            <a:ext cx="8778240" cy="281635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154305"/>
            <a:ext cx="877824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Learning curve and generation</a:t>
            </a:r>
          </a:p>
        </p:txBody>
      </p:sp>
      <p:pic>
        <p:nvPicPr>
          <p:cNvPr id="3" name="Picture 2" descr="fig03_learning_with_sampl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84952"/>
            <a:ext cx="8778240" cy="26422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154305"/>
            <a:ext cx="877824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Next-character probabilities</a:t>
            </a:r>
          </a:p>
        </p:txBody>
      </p:sp>
      <p:pic>
        <p:nvPicPr>
          <p:cNvPr id="3" name="Picture 2" descr="fig_next_char_prob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379" y="822960"/>
            <a:ext cx="8571240" cy="416623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154305"/>
            <a:ext cx="877824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Activation heatmap</a:t>
            </a:r>
          </a:p>
        </p:txBody>
      </p:sp>
      <p:pic>
        <p:nvPicPr>
          <p:cNvPr id="3" name="Picture 2" descr="fig_activation_heatm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0" y="822960"/>
            <a:ext cx="6172200" cy="416623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154305"/>
            <a:ext cx="877824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Activations clustered by prefix</a:t>
            </a:r>
          </a:p>
        </p:txBody>
      </p:sp>
      <p:pic>
        <p:nvPicPr>
          <p:cNvPr id="3" name="Picture 2" descr="fig_activation_cluster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49479"/>
            <a:ext cx="8778240" cy="371319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154305"/>
            <a:ext cx="877824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Hidden-state correlation</a:t>
            </a:r>
          </a:p>
        </p:txBody>
      </p:sp>
      <p:pic>
        <p:nvPicPr>
          <p:cNvPr id="3" name="Picture 2" descr="fig_state_correl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1055" y="822960"/>
            <a:ext cx="5481888" cy="416623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154305"/>
            <a:ext cx="877824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DFA PCA geometry and feature separation</a:t>
            </a:r>
          </a:p>
        </p:txBody>
      </p:sp>
      <p:pic>
        <p:nvPicPr>
          <p:cNvPr id="3" name="Picture 2" descr="fig_dfa_pca_geomet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7050" y="822960"/>
            <a:ext cx="4309898" cy="416623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154305"/>
            <a:ext cx="877824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Example selective units</a:t>
            </a:r>
          </a:p>
        </p:txBody>
      </p:sp>
      <p:pic>
        <p:nvPicPr>
          <p:cNvPr id="3" name="Picture 2" descr="fig_example_uni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555" y="822960"/>
            <a:ext cx="6144889" cy="416623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154305"/>
            <a:ext cx="877824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Linear decoding with word identity</a:t>
            </a:r>
          </a:p>
        </p:txBody>
      </p:sp>
      <p:pic>
        <p:nvPicPr>
          <p:cNvPr id="3" name="Picture 2" descr="fig_decoding_with_wo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655178"/>
            <a:ext cx="8778240" cy="250179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154305"/>
            <a:ext cx="877824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DFA states and trajectories across seeds</a:t>
            </a:r>
          </a:p>
        </p:txBody>
      </p:sp>
      <p:pic>
        <p:nvPicPr>
          <p:cNvPr id="3" name="Picture 2" descr="fig_word_trajectori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2296"/>
            <a:ext cx="8778240" cy="380756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154305"/>
            <a:ext cx="877824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Mixed-vocab scaling overview</a:t>
            </a:r>
          </a:p>
        </p:txBody>
      </p:sp>
      <p:pic>
        <p:nvPicPr>
          <p:cNvPr id="3" name="Picture 2" descr="fig_mixed_scaling_ov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401236"/>
            <a:ext cx="8778240" cy="300968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154305"/>
            <a:ext cx="877824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Activation heatmaps across DFA size</a:t>
            </a:r>
          </a:p>
        </p:txBody>
      </p:sp>
      <p:pic>
        <p:nvPicPr>
          <p:cNvPr id="3" name="Picture 2" descr="fig_activation_heatmaps_by_df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1409" y="822960"/>
            <a:ext cx="6101180" cy="416623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154305"/>
            <a:ext cx="877824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Closed-loop trajectories by DFA span</a:t>
            </a:r>
          </a:p>
        </p:txBody>
      </p:sp>
      <p:pic>
        <p:nvPicPr>
          <p:cNvPr id="3" name="Picture 2" descr="fig_mixed_traj_by_df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186" y="822960"/>
            <a:ext cx="4087626" cy="416623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154305"/>
            <a:ext cx="877824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Readout curves and learning</a:t>
            </a:r>
          </a:p>
        </p:txBody>
      </p:sp>
      <p:pic>
        <p:nvPicPr>
          <p:cNvPr id="3" name="Picture 2" descr="fig_mixed_decoding_curv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1410" y="822960"/>
            <a:ext cx="4121178" cy="416623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154305"/>
            <a:ext cx="877824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Within-feature geometry and unit selectivity</a:t>
            </a:r>
          </a:p>
        </p:txBody>
      </p:sp>
      <p:pic>
        <p:nvPicPr>
          <p:cNvPr id="3" name="Picture 2" descr="fig_mixed_cosine_with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34" y="822960"/>
            <a:ext cx="8209330" cy="416623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154305"/>
            <a:ext cx="877824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Readout vs DFA at fixed PCs</a:t>
            </a:r>
          </a:p>
        </p:txBody>
      </p:sp>
      <p:pic>
        <p:nvPicPr>
          <p:cNvPr id="3" name="Picture 2" descr="fig_mixed_decoding_vs_df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646" y="822960"/>
            <a:ext cx="8076707" cy="416623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154305"/>
            <a:ext cx="877824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Weight matrices by DFA size</a:t>
            </a:r>
          </a:p>
        </p:txBody>
      </p:sp>
      <p:pic>
        <p:nvPicPr>
          <p:cNvPr id="3" name="Picture 2" descr="fig_weight_matrices_by_df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124" y="822960"/>
            <a:ext cx="6271751" cy="416623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154305"/>
            <a:ext cx="877824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Weight graph structure and motifs vs DFA</a:t>
            </a:r>
          </a:p>
        </p:txBody>
      </p:sp>
      <p:pic>
        <p:nvPicPr>
          <p:cNvPr id="3" name="Picture 2" descr="fig_weight_graph_motifs_vs_df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8195" y="822960"/>
            <a:ext cx="6367608" cy="416623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FD6A0E-3B42-9041-628C-61847C9DCDA0}"/>
              </a:ext>
            </a:extLst>
          </p:cNvPr>
          <p:cNvSpPr txBox="1"/>
          <p:nvPr/>
        </p:nvSpPr>
        <p:spPr>
          <a:xfrm>
            <a:off x="2903034" y="170985"/>
            <a:ext cx="33379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Conclusions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9CE7F4-11BD-A141-B547-B2C73CD3FFC3}"/>
              </a:ext>
            </a:extLst>
          </p:cNvPr>
          <p:cNvSpPr txBox="1"/>
          <p:nvPr/>
        </p:nvSpPr>
        <p:spPr>
          <a:xfrm>
            <a:off x="1189462" y="821473"/>
            <a:ext cx="7233425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600" dirty="0"/>
              <a:t>Next token prediction in RNNs can produce statistical learning effects (not surprising).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600" dirty="0"/>
              <a:t>Various lexical features can be read out from neurons – more neurons, easier readout.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600" dirty="0"/>
              <a:t>DFA state is most easily read out, but letter position, input character, and so on are also readable.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600" dirty="0"/>
              <a:t>Information about lexical properties is distributed throughout the network, not in single-unit activity.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600" dirty="0"/>
              <a:t>Increasing DFA states in the task increases difficult of learning and readout.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600" dirty="0"/>
              <a:t>Increasing DFA states makes the internal representation higher dimensional (PC space).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600" dirty="0"/>
              <a:t>Consequently, more complex vocabularies result in network structure with less recurrency and fewer cyclic/bidirectional motifs.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600" dirty="0"/>
              <a:t>More complex vocabularies also result in broader input weight distribution (not sure why).</a:t>
            </a:r>
          </a:p>
        </p:txBody>
      </p:sp>
    </p:spTree>
    <p:extLst>
      <p:ext uri="{BB962C8B-B14F-4D97-AF65-F5344CB8AC3E}">
        <p14:creationId xmlns:p14="http://schemas.microsoft.com/office/powerpoint/2010/main" val="37016537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628F4F-3133-AFDA-DE6A-6F9898670794}"/>
              </a:ext>
            </a:extLst>
          </p:cNvPr>
          <p:cNvSpPr txBox="1"/>
          <p:nvPr/>
        </p:nvSpPr>
        <p:spPr>
          <a:xfrm>
            <a:off x="3802567" y="251344"/>
            <a:ext cx="12898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TODO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93A0E3-C158-E53A-79C7-F8DD16460670}"/>
              </a:ext>
            </a:extLst>
          </p:cNvPr>
          <p:cNvSpPr txBox="1"/>
          <p:nvPr/>
        </p:nvSpPr>
        <p:spPr>
          <a:xfrm>
            <a:off x="1189462" y="821473"/>
            <a:ext cx="723342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600" dirty="0"/>
              <a:t>Apply Dale’s law, see influence on encoding and motifs.</a:t>
            </a:r>
            <a:br>
              <a:rPr lang="en-US" sz="1600" dirty="0"/>
            </a:br>
            <a:endParaRPr lang="en-US" sz="16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600" dirty="0"/>
              <a:t>Train on different task – word classification – observe influence on encoding.</a:t>
            </a:r>
            <a:br>
              <a:rPr lang="en-US" sz="1600" dirty="0"/>
            </a:br>
            <a:endParaRPr lang="en-US" sz="16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600" dirty="0"/>
              <a:t>Figure out why the input weight distribution increases relative to recurrent on more complex vocabularies.</a:t>
            </a:r>
            <a:br>
              <a:rPr lang="en-US" sz="1600" dirty="0"/>
            </a:br>
            <a:endParaRPr lang="en-US" sz="16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600" dirty="0"/>
              <a:t>Explore question of low single unit selectivity (</a:t>
            </a:r>
            <a:r>
              <a:rPr lang="en-US" sz="1600"/>
              <a:t>Daneila concept neurons).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71548955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814</Words>
  <Application>Microsoft Office PowerPoint</Application>
  <PresentationFormat>On-screen Show (16:9)</PresentationFormat>
  <Paragraphs>89</Paragraphs>
  <Slides>32</Slides>
  <Notes>10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-apple-system</vt:lpstr>
      <vt:lpstr>Arial</vt:lpstr>
      <vt:lpstr>Calibri</vt:lpstr>
      <vt:lpstr>Simple Light</vt:lpstr>
      <vt:lpstr>Office Theme</vt:lpstr>
      <vt:lpstr>Recurrent networks trained on statistical learning tasks reveal principles of neural sequence representation</vt:lpstr>
      <vt:lpstr>The big picture</vt:lpstr>
      <vt:lpstr>Statistical Learning and Language Acquisition </vt:lpstr>
      <vt:lpstr>Statistical Language Segmentation: Saffran Experiment</vt:lpstr>
      <vt:lpstr>Generic statistical learning</vt:lpstr>
      <vt:lpstr>Assumptions</vt:lpstr>
      <vt:lpstr>Specific questions to be addressed </vt:lpstr>
      <vt:lpstr>Questions be addressed </vt:lpstr>
      <vt:lpstr>Vocabularies for statistical learning</vt:lpstr>
      <vt:lpstr>Training an RNN</vt:lpstr>
      <vt:lpstr>Evaluation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Toviah Moldwin</cp:lastModifiedBy>
  <cp:revision>5</cp:revision>
  <dcterms:modified xsi:type="dcterms:W3CDTF">2026-07-30T09:21:27Z</dcterms:modified>
</cp:coreProperties>
</file>