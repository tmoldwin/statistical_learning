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1" r:id="rId4"/>
    <p:sldMasterId id="214748367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1fc49350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f1fc49350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1fc49350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1fc49350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1fc49350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1fc49350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3c96c856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f3c96c856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1fc49350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f1fc49350a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1fc49350a_0_3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f1fc49350a_0_3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f1fc49350a_0_4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f1fc49350a_0_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4272c5c7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f4272c5c7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4272c5c7e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f4272c5c7e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25000" lnSpcReduction="20000"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22225" lvl="0" marL="0" rtl="0" algn="r">
              <a:spcBef>
                <a:spcPts val="0"/>
              </a:spcBef>
              <a:spcAft>
                <a:spcPts val="0"/>
              </a:spcAft>
              <a:buSzPct val="116667"/>
              <a:buChar char="●"/>
            </a:pPr>
            <a:r>
              <a:t/>
            </a:r>
            <a:endParaRPr/>
          </a:p>
          <a:p>
            <a:pPr indent="-22225" lvl="1" marL="457200" rtl="0" algn="l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22225" lvl="2" marL="914400" rtl="0" algn="l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22225" lvl="3" marL="1371600" rtl="0" algn="l">
              <a:spcBef>
                <a:spcPts val="0"/>
              </a:spcBef>
              <a:spcAft>
                <a:spcPts val="0"/>
              </a:spcAft>
              <a:buSzPct val="77778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22225" lvl="4" marL="1828800" rtl="0" algn="l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22225" lvl="5" marL="2286000" rtl="0" algn="l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22225" lvl="6" marL="2743200" rtl="0" algn="l">
              <a:spcBef>
                <a:spcPts val="0"/>
              </a:spcBef>
              <a:spcAft>
                <a:spcPts val="0"/>
              </a:spcAft>
              <a:buSzPct val="77778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22225" lvl="7" marL="3200400" rtl="0" algn="l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22225" lvl="8" marL="3657600" rtl="0" algn="l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88900" lvl="2" marL="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88900" lvl="3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88900" lvl="4" marL="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88900" lvl="5" marL="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88900" lvl="6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88900" lvl="7" marL="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88900" lvl="8" marL="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subTitle"/>
          </p:nvPr>
        </p:nvSpPr>
        <p:spPr>
          <a:xfrm>
            <a:off x="1371600" y="2914650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3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28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24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722313" y="3305175"/>
            <a:ext cx="7772400" cy="10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small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722313" y="2180035"/>
            <a:ext cx="77724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8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" type="body"/>
          </p:nvPr>
        </p:nvSpPr>
        <p:spPr>
          <a:xfrm>
            <a:off x="457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800"/>
            </a:lvl1pPr>
            <a:lvl2pPr indent="-317500" lvl="1" marL="9144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400"/>
            </a:lvl2pPr>
            <a:lvl3pPr indent="-317500" lvl="2" marL="13716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000"/>
            </a:lvl3pPr>
            <a:lvl4pPr indent="-317500" lvl="3" marL="18288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800"/>
            </a:lvl4pPr>
            <a:lvl5pPr indent="-317500" lvl="4" marL="22860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800"/>
            </a:lvl5pPr>
            <a:lvl6pPr indent="-317500" lvl="5" marL="27432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6pPr>
            <a:lvl7pPr indent="-317500" lvl="6" marL="32004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7pPr>
            <a:lvl8pPr indent="-317500" lvl="7" marL="36576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8pPr>
            <a:lvl9pPr indent="-317500" lvl="8" marL="41148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9pPr>
          </a:lstStyle>
          <a:p/>
        </p:txBody>
      </p:sp>
      <p:sp>
        <p:nvSpPr>
          <p:cNvPr id="83" name="Google Shape;83;p18"/>
          <p:cNvSpPr txBox="1"/>
          <p:nvPr>
            <p:ph idx="2" type="body"/>
          </p:nvPr>
        </p:nvSpPr>
        <p:spPr>
          <a:xfrm>
            <a:off x="4648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800"/>
            </a:lvl1pPr>
            <a:lvl2pPr indent="-317500" lvl="1" marL="9144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400"/>
            </a:lvl2pPr>
            <a:lvl3pPr indent="-317500" lvl="2" marL="13716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000"/>
            </a:lvl3pPr>
            <a:lvl4pPr indent="-317500" lvl="3" marL="18288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800"/>
            </a:lvl4pPr>
            <a:lvl5pPr indent="-317500" lvl="4" marL="22860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800"/>
            </a:lvl5pPr>
            <a:lvl6pPr indent="-317500" lvl="5" marL="27432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6pPr>
            <a:lvl7pPr indent="-317500" lvl="6" marL="32004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7pPr>
            <a:lvl8pPr indent="-317500" lvl="7" marL="36576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8pPr>
            <a:lvl9pPr indent="-317500" lvl="8" marL="41148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9pPr>
          </a:lstStyle>
          <a:p/>
        </p:txBody>
      </p:sp>
      <p:sp>
        <p:nvSpPr>
          <p:cNvPr id="84" name="Google Shape;84;p18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18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" type="body"/>
          </p:nvPr>
        </p:nvSpPr>
        <p:spPr>
          <a:xfrm>
            <a:off x="457200" y="1151335"/>
            <a:ext cx="4040100" cy="479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b="1" sz="2400"/>
            </a:lvl1pPr>
            <a:lvl2pPr indent="-228600" lvl="1" marL="9144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b="1" sz="2000"/>
            </a:lvl2pPr>
            <a:lvl3pPr indent="-228600" lvl="2" marL="1371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b="1" sz="1800"/>
            </a:lvl3pPr>
            <a:lvl4pPr indent="-228600" lvl="3" marL="18288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4pPr>
            <a:lvl5pPr indent="-228600" lvl="4" marL="22860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5pPr>
            <a:lvl6pPr indent="-228600" lvl="5" marL="27432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6pPr>
            <a:lvl7pPr indent="-228600" lvl="6" marL="32004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7pPr>
            <a:lvl8pPr indent="-228600" lvl="7" marL="3657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8pPr>
            <a:lvl9pPr indent="-228600" lvl="8" marL="41148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9pPr>
          </a:lstStyle>
          <a:p/>
        </p:txBody>
      </p:sp>
      <p:sp>
        <p:nvSpPr>
          <p:cNvPr id="90" name="Google Shape;90;p19"/>
          <p:cNvSpPr txBox="1"/>
          <p:nvPr>
            <p:ph idx="2" type="body"/>
          </p:nvPr>
        </p:nvSpPr>
        <p:spPr>
          <a:xfrm>
            <a:off x="457200" y="1631156"/>
            <a:ext cx="4040100" cy="29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400"/>
            </a:lvl1pPr>
            <a:lvl2pPr indent="-317500" lvl="1" marL="9144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000"/>
            </a:lvl2pPr>
            <a:lvl3pPr indent="-317500" lvl="2" marL="13716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1800"/>
            </a:lvl3pPr>
            <a:lvl4pPr indent="-317500" lvl="3" marL="18288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600"/>
            </a:lvl4pPr>
            <a:lvl5pPr indent="-317500" lvl="4" marL="22860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600"/>
            </a:lvl5pPr>
            <a:lvl6pPr indent="-317500" lvl="5" marL="27432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6pPr>
            <a:lvl7pPr indent="-317500" lvl="6" marL="32004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7pPr>
            <a:lvl8pPr indent="-317500" lvl="7" marL="36576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8pPr>
            <a:lvl9pPr indent="-317500" lvl="8" marL="41148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9pPr>
          </a:lstStyle>
          <a:p/>
        </p:txBody>
      </p:sp>
      <p:sp>
        <p:nvSpPr>
          <p:cNvPr id="91" name="Google Shape;91;p19"/>
          <p:cNvSpPr txBox="1"/>
          <p:nvPr>
            <p:ph idx="3" type="body"/>
          </p:nvPr>
        </p:nvSpPr>
        <p:spPr>
          <a:xfrm>
            <a:off x="4645025" y="1151335"/>
            <a:ext cx="4041900" cy="479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b="1" sz="2400"/>
            </a:lvl1pPr>
            <a:lvl2pPr indent="-228600" lvl="1" marL="9144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b="1" sz="2000"/>
            </a:lvl2pPr>
            <a:lvl3pPr indent="-228600" lvl="2" marL="1371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b="1" sz="1800"/>
            </a:lvl3pPr>
            <a:lvl4pPr indent="-228600" lvl="3" marL="18288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4pPr>
            <a:lvl5pPr indent="-228600" lvl="4" marL="22860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5pPr>
            <a:lvl6pPr indent="-228600" lvl="5" marL="27432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6pPr>
            <a:lvl7pPr indent="-228600" lvl="6" marL="32004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7pPr>
            <a:lvl8pPr indent="-228600" lvl="7" marL="3657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8pPr>
            <a:lvl9pPr indent="-228600" lvl="8" marL="41148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b="1" sz="1600"/>
            </a:lvl9pPr>
          </a:lstStyle>
          <a:p/>
        </p:txBody>
      </p:sp>
      <p:sp>
        <p:nvSpPr>
          <p:cNvPr id="92" name="Google Shape;92;p19"/>
          <p:cNvSpPr txBox="1"/>
          <p:nvPr>
            <p:ph idx="4" type="body"/>
          </p:nvPr>
        </p:nvSpPr>
        <p:spPr>
          <a:xfrm>
            <a:off x="4645025" y="1631156"/>
            <a:ext cx="4041900" cy="29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400"/>
            </a:lvl1pPr>
            <a:lvl2pPr indent="-317500" lvl="1" marL="9144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000"/>
            </a:lvl2pPr>
            <a:lvl3pPr indent="-317500" lvl="2" marL="13716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1800"/>
            </a:lvl3pPr>
            <a:lvl4pPr indent="-317500" lvl="3" marL="18288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600"/>
            </a:lvl4pPr>
            <a:lvl5pPr indent="-317500" lvl="4" marL="22860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600"/>
            </a:lvl5pPr>
            <a:lvl6pPr indent="-317500" lvl="5" marL="27432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6pPr>
            <a:lvl7pPr indent="-317500" lvl="6" marL="32004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7pPr>
            <a:lvl8pPr indent="-317500" lvl="7" marL="36576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8pPr>
            <a:lvl9pPr indent="-317500" lvl="8" marL="41148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19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9" name="Google Shape;99;p20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20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2"/>
          <p:cNvSpPr txBox="1"/>
          <p:nvPr>
            <p:ph type="title"/>
          </p:nvPr>
        </p:nvSpPr>
        <p:spPr>
          <a:xfrm>
            <a:off x="457200" y="204788"/>
            <a:ext cx="3008400" cy="871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7" name="Google Shape;107;p22"/>
          <p:cNvSpPr txBox="1"/>
          <p:nvPr>
            <p:ph idx="1" type="body"/>
          </p:nvPr>
        </p:nvSpPr>
        <p:spPr>
          <a:xfrm>
            <a:off x="3575050" y="204788"/>
            <a:ext cx="5111700" cy="43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3200"/>
            </a:lvl1pPr>
            <a:lvl2pPr indent="-317500" lvl="1" marL="9144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800"/>
            </a:lvl2pPr>
            <a:lvl3pPr indent="-317500" lvl="2" marL="13716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400"/>
            </a:lvl3pPr>
            <a:lvl4pPr indent="-317500" lvl="3" marL="18288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2000"/>
            </a:lvl4pPr>
            <a:lvl5pPr indent="-317500" lvl="4" marL="22860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2000"/>
            </a:lvl5pPr>
            <a:lvl6pPr indent="-317500" lvl="5" marL="27432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6pPr>
            <a:lvl7pPr indent="-317500" lvl="6" marL="32004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7pPr>
            <a:lvl8pPr indent="-317500" lvl="7" marL="36576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8pPr>
            <a:lvl9pPr indent="-317500" lvl="8" marL="41148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9pPr>
          </a:lstStyle>
          <a:p/>
        </p:txBody>
      </p:sp>
      <p:sp>
        <p:nvSpPr>
          <p:cNvPr id="108" name="Google Shape;108;p22"/>
          <p:cNvSpPr txBox="1"/>
          <p:nvPr>
            <p:ph idx="2" type="body"/>
          </p:nvPr>
        </p:nvSpPr>
        <p:spPr>
          <a:xfrm>
            <a:off x="457200" y="1076325"/>
            <a:ext cx="3008400" cy="3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1400"/>
            </a:lvl1pPr>
            <a:lvl2pPr indent="-228600" lvl="1" marL="9144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1200"/>
            </a:lvl2pPr>
            <a:lvl3pPr indent="-228600" lvl="2" marL="1371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000"/>
            </a:lvl3pPr>
            <a:lvl4pPr indent="-228600" lvl="3" marL="18288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4pPr>
            <a:lvl5pPr indent="-228600" lvl="4" marL="22860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5pPr>
            <a:lvl6pPr indent="-228600" lvl="5" marL="27432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6pPr>
            <a:lvl7pPr indent="-228600" lvl="6" marL="32004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7pPr>
            <a:lvl8pPr indent="-228600" lvl="7" marL="3657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8pPr>
            <a:lvl9pPr indent="-228600" lvl="8" marL="41148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1" name="Google Shape;111;p22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/>
          <p:nvPr>
            <p:ph type="title"/>
          </p:nvPr>
        </p:nvSpPr>
        <p:spPr>
          <a:xfrm>
            <a:off x="1792288" y="3600450"/>
            <a:ext cx="54864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4" name="Google Shape;114;p23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3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>
            <a:off x="1792288" y="4025504"/>
            <a:ext cx="54864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1400"/>
            </a:lvl1pPr>
            <a:lvl2pPr indent="-228600" lvl="1" marL="9144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1200"/>
            </a:lvl2pPr>
            <a:lvl3pPr indent="-228600" lvl="2" marL="1371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000"/>
            </a:lvl3pPr>
            <a:lvl4pPr indent="-228600" lvl="3" marL="18288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4pPr>
            <a:lvl5pPr indent="-228600" lvl="4" marL="22860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5pPr>
            <a:lvl6pPr indent="-228600" lvl="5" marL="27432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6pPr>
            <a:lvl7pPr indent="-228600" lvl="6" marL="32004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7pPr>
            <a:lvl8pPr indent="-228600" lvl="7" marL="3657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8pPr>
            <a:lvl9pPr indent="-228600" lvl="8" marL="41148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2874750" y="-1217400"/>
            <a:ext cx="33945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 rot="5400000">
            <a:off x="5463750" y="1371628"/>
            <a:ext cx="43887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 rot="5400000">
            <a:off x="1272750" y="-609572"/>
            <a:ext cx="43887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88900" lvl="2" marL="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88900" lvl="3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88900" lvl="4" marL="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88900" lvl="5" marL="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88900" lvl="6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88900" lvl="7" marL="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88900" lvl="8" marL="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88900" lvl="0" marL="0" marR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88900" lvl="1" marL="4572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88900" lvl="2" marL="9144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8900" lvl="3" marL="13716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8900" lvl="4" marL="18288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8900" lvl="5" marL="22860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8900" lvl="6" marL="2743200" marR="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8900" lvl="7" marL="3200400" marR="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8900" lvl="8" marL="3657600" marR="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88900" lvl="0" marL="0" rtl="0" algn="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/>
          </a:p>
          <a:p>
            <a:pPr indent="-88900" lvl="1" marL="4572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2" marL="9144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3" marL="13716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4" marL="18288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5" marL="22860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6" marL="2743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7" marL="3200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88900" lvl="8" marL="3657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groups.lis.illinois.edu/amag/langev/author/pkkuhl.html" TargetMode="External"/><Relationship Id="rId4" Type="http://schemas.openxmlformats.org/officeDocument/2006/relationships/hyperlink" Target="http://groups.lis.illinois.edu/amag/langev/pubtype/article_NatureReviewsNeuroscience.html" TargetMode="External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/>
          <p:nvPr>
            <p:ph type="ctrTitle"/>
          </p:nvPr>
        </p:nvSpPr>
        <p:spPr>
          <a:xfrm>
            <a:off x="722550" y="354701"/>
            <a:ext cx="7698900" cy="1569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27654"/>
              <a:buNone/>
            </a:pPr>
            <a:r>
              <a:rPr lang="en" sz="3580"/>
              <a:t>Recurrent networks trained on statistical learning tasks reveal </a:t>
            </a:r>
            <a:r>
              <a:rPr lang="en" sz="3580"/>
              <a:t>principles</a:t>
            </a:r>
            <a:r>
              <a:rPr lang="en" sz="3580"/>
              <a:t> of neural sequence representation</a:t>
            </a:r>
            <a:endParaRPr sz="3580"/>
          </a:p>
        </p:txBody>
      </p:sp>
      <p:pic>
        <p:nvPicPr>
          <p:cNvPr id="136" name="Google Shape;136;p26"/>
          <p:cNvPicPr preferRelativeResize="0"/>
          <p:nvPr/>
        </p:nvPicPr>
        <p:blipFill rotWithShape="1">
          <a:blip r:embed="rId3">
            <a:alphaModFix/>
          </a:blip>
          <a:srcRect b="0" l="0" r="45304" t="6358"/>
          <a:stretch/>
        </p:blipFill>
        <p:spPr>
          <a:xfrm>
            <a:off x="1767225" y="2114725"/>
            <a:ext cx="5609549" cy="248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big picture</a:t>
            </a:r>
            <a:endParaRPr/>
          </a:p>
        </p:txBody>
      </p:sp>
      <p:sp>
        <p:nvSpPr>
          <p:cNvPr id="142" name="Google Shape;142;p27"/>
          <p:cNvSpPr txBox="1"/>
          <p:nvPr>
            <p:ph idx="1" type="body"/>
          </p:nvPr>
        </p:nvSpPr>
        <p:spPr>
          <a:xfrm>
            <a:off x="349600" y="1689575"/>
            <a:ext cx="8520600" cy="192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The brain needs to store and represent sequences of primitives (phonemes-&gt;words, muscle movements-&gt;motor </a:t>
            </a:r>
            <a:r>
              <a:rPr lang="en"/>
              <a:t>sequences, etc.).</a:t>
            </a:r>
            <a:br>
              <a:rPr lang="en"/>
            </a:br>
            <a:br>
              <a:rPr lang="en"/>
            </a:br>
            <a:r>
              <a:rPr lang="en"/>
              <a:t>How are these representations stored in the brain, and how are they recalled/produced in a sequential manner?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</a:t>
            </a:r>
            <a:endParaRPr/>
          </a:p>
        </p:txBody>
      </p:sp>
      <p:sp>
        <p:nvSpPr>
          <p:cNvPr id="148" name="Google Shape;148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To a first approximation, the brain is a recurrent neural network.</a:t>
            </a:r>
            <a:endParaRPr/>
          </a:p>
          <a:p>
            <a:pPr indent="-334328" lvl="0" marL="457200" rtl="0" algn="l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The output of the brain at any given time is a function of the </a:t>
            </a:r>
            <a:r>
              <a:rPr i="1" lang="en"/>
              <a:t>state </a:t>
            </a:r>
            <a:r>
              <a:rPr lang="en"/>
              <a:t>of the network at that time; the output of the network over a period of time is a </a:t>
            </a:r>
            <a:r>
              <a:rPr i="1" lang="en"/>
              <a:t>trajectory</a:t>
            </a:r>
            <a:r>
              <a:rPr lang="en"/>
              <a:t> through the state space.</a:t>
            </a:r>
            <a:endParaRPr/>
          </a:p>
          <a:p>
            <a:pPr indent="-334328" lvl="0" marL="457200" rtl="0" algn="l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The brain originally learns sequences without any prior assumptions about sequence structure; all learned structure is emergent from naive next token prediction.</a:t>
            </a:r>
            <a:endParaRPr/>
          </a:p>
          <a:p>
            <a:pPr indent="-334328" lvl="0" marL="457200" rtl="0" algn="l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Once learned, the brain produces sequences via a closed loop process - it generates (predicts) a token, which is fed as an input to the network at the next time step.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 questions to be addressed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9"/>
          <p:cNvSpPr txBox="1"/>
          <p:nvPr>
            <p:ph idx="1" type="body"/>
          </p:nvPr>
        </p:nvSpPr>
        <p:spPr>
          <a:xfrm>
            <a:off x="311700" y="1152475"/>
            <a:ext cx="8520600" cy="37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do trajectory geometries generally look like for learned sequences (words)?</a:t>
            </a:r>
            <a:endParaRPr/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stable is the representational geometry over </a:t>
            </a:r>
            <a:r>
              <a:rPr lang="en"/>
              <a:t>multiple random seeds? (Multiple realizability).</a:t>
            </a:r>
            <a:endParaRPr/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does word length influence trajectory geometry?</a:t>
            </a:r>
            <a:endParaRPr/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does the number of words stored influence trajectory geometry?</a:t>
            </a:r>
            <a:endParaRPr/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Why does the trajectory geometry look the way it does?</a:t>
            </a:r>
            <a:endParaRPr/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sort of features (specific token, position in sequence, DFA state) are easily read out of the neural representation?</a:t>
            </a:r>
            <a:endParaRPr/>
          </a:p>
          <a:p>
            <a:pPr indent="-317183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sort of features do we see in single-neuron responses?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be addressed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30"/>
          <p:cNvSpPr txBox="1"/>
          <p:nvPr>
            <p:ph idx="1" type="body"/>
          </p:nvPr>
        </p:nvSpPr>
        <p:spPr>
          <a:xfrm>
            <a:off x="311700" y="1152475"/>
            <a:ext cx="8520600" cy="37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is lexical information (word position, character, etc.) represented in a recurrent network that learns to produce words?</a:t>
            </a:r>
            <a:endParaRPr sz="2100"/>
          </a:p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/>
          </a:p>
          <a:p>
            <a:pPr indent="-36195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does network’s representation of information change with vocabulary complexity?</a:t>
            </a:r>
            <a:endParaRPr sz="2100"/>
          </a:p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/>
          </a:p>
          <a:p>
            <a:pPr indent="-36195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do the network’s </a:t>
            </a:r>
            <a:r>
              <a:rPr i="1" lang="en" sz="2100"/>
              <a:t>weights </a:t>
            </a:r>
            <a:r>
              <a:rPr lang="en" sz="2100"/>
              <a:t>differ as a function of the complexity of the learned vocabulary (function-&gt;structure).</a:t>
            </a:r>
            <a:endParaRPr sz="210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1"/>
          <p:cNvSpPr txBox="1"/>
          <p:nvPr>
            <p:ph type="title"/>
          </p:nvPr>
        </p:nvSpPr>
        <p:spPr>
          <a:xfrm>
            <a:off x="457200" y="1143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Statistical Learning and Language Acquisition</a:t>
            </a:r>
            <a:br>
              <a:rPr b="1" i="0" lang="en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1"/>
          <p:cNvSpPr txBox="1"/>
          <p:nvPr>
            <p:ph idx="1" type="body"/>
          </p:nvPr>
        </p:nvSpPr>
        <p:spPr>
          <a:xfrm>
            <a:off x="533400" y="571500"/>
            <a:ext cx="8229600" cy="38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32385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</a:pPr>
            <a:r>
              <a:rPr b="0" i="0" lang="en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Saffran, Newport, Aslin. Science (1996). “Statistical Learning By 8-Month-Old Infants.”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342900" marR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</a:pPr>
            <a:r>
              <a:rPr b="0" i="0" lang="en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do infants learn to segment  auditory information into individual words?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342900" marR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60000"/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342900" marR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60000"/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t/>
            </a:r>
            <a:endParaRPr sz="2000"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t/>
            </a:r>
            <a:endParaRPr sz="2000"/>
          </a:p>
          <a:p>
            <a:pPr indent="0" lvl="0" marL="0" marR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Calibri"/>
              <a:buNone/>
            </a:pPr>
            <a:r>
              <a:rPr b="0" i="0" lang="en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Kuhl, P. K.</a:t>
            </a: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(2004) Early language acquisition: cracking the speech code. </a:t>
            </a:r>
            <a:r>
              <a:rPr b="0" i="1" lang="en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Nature Reviews Neuroscience</a:t>
            </a: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5(11):831--843.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0100" y="2446904"/>
            <a:ext cx="7696200" cy="1718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2"/>
          <p:cNvSpPr txBox="1"/>
          <p:nvPr>
            <p:ph type="title"/>
          </p:nvPr>
        </p:nvSpPr>
        <p:spPr>
          <a:xfrm>
            <a:off x="310125" y="171450"/>
            <a:ext cx="8376600" cy="6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b="1" i="0" lang="en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Statistical Language Segmentation: Saffran Experiment</a:t>
            </a:r>
            <a:endParaRPr b="1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457200" y="971550"/>
            <a:ext cx="8229600" cy="26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048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Pseudo-words, like </a:t>
            </a:r>
            <a:r>
              <a:rPr b="1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b="1" i="1" lang="en" sz="1400"/>
              <a:t>do</a:t>
            </a:r>
            <a:r>
              <a:rPr b="1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</a:t>
            </a:r>
            <a:r>
              <a:rPr lang="en" sz="1400"/>
              <a:t> </a:t>
            </a:r>
            <a:r>
              <a:rPr b="1" i="1" lang="en" sz="1400"/>
              <a:t>ku</a:t>
            </a:r>
            <a:r>
              <a:rPr b="1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</a:t>
            </a: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were randomly concatenated and presented to infa</a:t>
            </a:r>
            <a:r>
              <a:rPr lang="en" sz="1400"/>
              <a:t>nts </a:t>
            </a: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sequences such as: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bupad</a:t>
            </a:r>
            <a:r>
              <a:rPr b="1" i="1" lang="en" sz="3300"/>
              <a:t>oku</a:t>
            </a:r>
            <a:r>
              <a:rPr b="1" i="1" lang="en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</a:t>
            </a:r>
            <a:r>
              <a:rPr b="1" i="1" lang="en" sz="3300"/>
              <a:t>ku</a:t>
            </a:r>
            <a:r>
              <a:rPr b="1" i="1" lang="en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tababupa</a:t>
            </a:r>
            <a:r>
              <a:rPr b="1" i="1" lang="en" sz="3300"/>
              <a:t>do</a:t>
            </a:r>
            <a:r>
              <a:rPr b="1" i="1" lang="en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b="1" i="1" lang="en" sz="3300"/>
              <a:t>doku</a:t>
            </a:r>
            <a:r>
              <a:rPr b="1" i="1" lang="en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 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-30480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 probing session, infants demonstrated a greater familiarity with the “words”, </a:t>
            </a:r>
            <a:r>
              <a:rPr b="0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i="1" lang="en" sz="1400"/>
              <a:t>do</a:t>
            </a:r>
            <a:r>
              <a:rPr b="0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i="1" lang="en" sz="1400"/>
              <a:t>ku</a:t>
            </a:r>
            <a:r>
              <a:rPr b="0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taba, </a:t>
            </a: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" sz="1400"/>
              <a:t>a</a:t>
            </a: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 they did with non-words that crossed word boun</a:t>
            </a:r>
            <a:r>
              <a:rPr lang="en" sz="1400"/>
              <a:t>da</a:t>
            </a: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ries, like </a:t>
            </a:r>
            <a:r>
              <a:rPr b="0" i="1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</a:t>
            </a:r>
            <a:r>
              <a:rPr i="1" lang="en" sz="1400"/>
              <a:t>doku</a:t>
            </a:r>
            <a:endParaRPr b="0" i="1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i="1" sz="1400"/>
          </a:p>
          <a:p>
            <a:pPr indent="-30480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Conclusion: transitional probabilities between syllables allow infants to segment speech into indivi</a:t>
            </a:r>
            <a:r>
              <a:rPr lang="en" sz="1400"/>
              <a:t>du</a:t>
            </a: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 words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39700" lvl="0" marL="3429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4000"/>
              <a:t>bu pa do ku ta ba</a:t>
            </a:r>
            <a:endParaRPr sz="4000"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sz="4000"/>
          </a:p>
          <a:p>
            <a:pPr indent="-139700" lvl="0" marL="3429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sz="2400"/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t/>
            </a:r>
            <a:endParaRPr sz="4000"/>
          </a:p>
          <a:p>
            <a:pPr indent="-139700" lvl="0" marL="3429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sz="4000"/>
          </a:p>
        </p:txBody>
      </p:sp>
      <p:grpSp>
        <p:nvGrpSpPr>
          <p:cNvPr id="174" name="Google Shape;174;p32"/>
          <p:cNvGrpSpPr/>
          <p:nvPr/>
        </p:nvGrpSpPr>
        <p:grpSpPr>
          <a:xfrm>
            <a:off x="3105075" y="3797980"/>
            <a:ext cx="2933850" cy="380408"/>
            <a:chOff x="3105075" y="3584430"/>
            <a:chExt cx="2933850" cy="380408"/>
          </a:xfrm>
        </p:grpSpPr>
        <p:sp>
          <p:nvSpPr>
            <p:cNvPr id="175" name="Google Shape;175;p32"/>
            <p:cNvSpPr/>
            <p:nvPr/>
          </p:nvSpPr>
          <p:spPr>
            <a:xfrm>
              <a:off x="3686100" y="3850538"/>
              <a:ext cx="381000" cy="114300"/>
            </a:xfrm>
            <a:prstGeom prst="curvedDown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25400">
              <a:solidFill>
                <a:srgbClr val="395E8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32"/>
            <p:cNvSpPr/>
            <p:nvPr/>
          </p:nvSpPr>
          <p:spPr>
            <a:xfrm>
              <a:off x="4371900" y="3836250"/>
              <a:ext cx="381000" cy="114300"/>
            </a:xfrm>
            <a:prstGeom prst="curvedDown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25400">
              <a:solidFill>
                <a:srgbClr val="395E8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32"/>
            <p:cNvSpPr/>
            <p:nvPr/>
          </p:nvSpPr>
          <p:spPr>
            <a:xfrm>
              <a:off x="5019600" y="3843394"/>
              <a:ext cx="381000" cy="114300"/>
            </a:xfrm>
            <a:prstGeom prst="curvedDown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25400">
              <a:solidFill>
                <a:srgbClr val="395E8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32"/>
            <p:cNvSpPr/>
            <p:nvPr/>
          </p:nvSpPr>
          <p:spPr>
            <a:xfrm>
              <a:off x="5591100" y="3843394"/>
              <a:ext cx="381000" cy="114300"/>
            </a:xfrm>
            <a:prstGeom prst="curvedDown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25400">
              <a:solidFill>
                <a:srgbClr val="395E8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32"/>
            <p:cNvSpPr txBox="1"/>
            <p:nvPr/>
          </p:nvSpPr>
          <p:spPr>
            <a:xfrm>
              <a:off x="3105075" y="3608095"/>
              <a:ext cx="5145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4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1.0</a:t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80" name="Google Shape;180;p32"/>
            <p:cNvGrpSpPr/>
            <p:nvPr/>
          </p:nvGrpSpPr>
          <p:grpSpPr>
            <a:xfrm>
              <a:off x="3152700" y="3584430"/>
              <a:ext cx="2886225" cy="380408"/>
              <a:chOff x="3152700" y="3584430"/>
              <a:chExt cx="2886225" cy="380408"/>
            </a:xfrm>
          </p:grpSpPr>
          <p:sp>
            <p:nvSpPr>
              <p:cNvPr id="181" name="Google Shape;181;p32"/>
              <p:cNvSpPr/>
              <p:nvPr/>
            </p:nvSpPr>
            <p:spPr>
              <a:xfrm>
                <a:off x="3152700" y="3850538"/>
                <a:ext cx="381000" cy="114300"/>
              </a:xfrm>
              <a:prstGeom prst="curvedDownArrow">
                <a:avLst>
                  <a:gd fmla="val 25000" name="adj1"/>
                  <a:gd fmla="val 50000" name="adj2"/>
                  <a:gd fmla="val 25000" name="adj3"/>
                </a:avLst>
              </a:prstGeom>
              <a:solidFill>
                <a:schemeClr val="accent1"/>
              </a:solidFill>
              <a:ln cap="flat" cmpd="sng" w="25400">
                <a:solidFill>
                  <a:srgbClr val="395E8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32"/>
              <p:cNvSpPr txBox="1"/>
              <p:nvPr/>
            </p:nvSpPr>
            <p:spPr>
              <a:xfrm>
                <a:off x="3686100" y="3605417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4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b="0" i="0" sz="14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3" name="Google Shape;183;p32"/>
              <p:cNvSpPr txBox="1"/>
              <p:nvPr/>
            </p:nvSpPr>
            <p:spPr>
              <a:xfrm>
                <a:off x="4952925" y="3584430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4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b="0" i="0" sz="14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4" name="Google Shape;184;p32"/>
              <p:cNvSpPr txBox="1"/>
              <p:nvPr/>
            </p:nvSpPr>
            <p:spPr>
              <a:xfrm>
                <a:off x="5524425" y="3589341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4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b="0" i="0" sz="14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5" name="Google Shape;185;p32"/>
              <p:cNvSpPr txBox="1"/>
              <p:nvPr/>
            </p:nvSpPr>
            <p:spPr>
              <a:xfrm>
                <a:off x="4305225" y="3605417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4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0.5</a:t>
                </a:r>
                <a:endParaRPr b="0" i="0" sz="14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/>
          <p:nvPr>
            <p:ph type="title"/>
          </p:nvPr>
        </p:nvSpPr>
        <p:spPr>
          <a:xfrm>
            <a:off x="421900" y="111803"/>
            <a:ext cx="8229600" cy="85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Vocabularies for statistical learning</a:t>
            </a:r>
            <a:endParaRPr sz="3600"/>
          </a:p>
        </p:txBody>
      </p:sp>
      <p:pic>
        <p:nvPicPr>
          <p:cNvPr id="191" name="Google Shape;191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8500" y="969203"/>
            <a:ext cx="5827008" cy="3869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4"/>
          <p:cNvSpPr txBox="1"/>
          <p:nvPr>
            <p:ph type="title"/>
          </p:nvPr>
        </p:nvSpPr>
        <p:spPr>
          <a:xfrm>
            <a:off x="457200" y="70643"/>
            <a:ext cx="8229600" cy="85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an RNN</a:t>
            </a:r>
            <a:endParaRPr/>
          </a:p>
        </p:txBody>
      </p:sp>
      <p:pic>
        <p:nvPicPr>
          <p:cNvPr id="197" name="Google Shape;19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788" y="1033358"/>
            <a:ext cx="8246435" cy="37753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5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Evaluation</a:t>
            </a:r>
            <a:endParaRPr/>
          </a:p>
        </p:txBody>
      </p:sp>
      <p:pic>
        <p:nvPicPr>
          <p:cNvPr id="203" name="Google Shape;203;p35"/>
          <p:cNvPicPr preferRelativeResize="0"/>
          <p:nvPr/>
        </p:nvPicPr>
        <p:blipFill rotWithShape="1">
          <a:blip r:embed="rId3">
            <a:alphaModFix/>
          </a:blip>
          <a:srcRect b="0" l="0" r="0" t="19711"/>
          <a:stretch/>
        </p:blipFill>
        <p:spPr>
          <a:xfrm>
            <a:off x="175950" y="1335050"/>
            <a:ext cx="8839200" cy="30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Minimal DFAs for three small vocabularies</a:t>
            </a:r>
          </a:p>
        </p:txBody>
      </p:sp>
      <p:pic>
        <p:nvPicPr>
          <p:cNvPr id="3" name="Picture 2" descr="fig_dfa_ex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8" y="822960"/>
            <a:ext cx="8649622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Demo vocabulary and training stream</a:t>
            </a:r>
          </a:p>
        </p:txBody>
      </p:sp>
      <p:pic>
        <p:nvPicPr>
          <p:cNvPr id="3" name="Picture 2" descr="fig04_corpu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97901"/>
            <a:ext cx="8778240" cy="28163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Learning curve and generation</a:t>
            </a:r>
          </a:p>
        </p:txBody>
      </p:sp>
      <p:pic>
        <p:nvPicPr>
          <p:cNvPr id="3" name="Picture 2" descr="fig03_learning_with_s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84952"/>
            <a:ext cx="8778240" cy="26422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Next-character probabilities</a:t>
            </a:r>
          </a:p>
        </p:txBody>
      </p:sp>
      <p:pic>
        <p:nvPicPr>
          <p:cNvPr id="3" name="Picture 2" descr="fig_next_char_pro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79" y="822960"/>
            <a:ext cx="8571240" cy="416623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 heatmap</a:t>
            </a:r>
          </a:p>
        </p:txBody>
      </p:sp>
      <p:pic>
        <p:nvPicPr>
          <p:cNvPr id="3" name="Picture 2" descr="fig_activation_heat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822960"/>
            <a:ext cx="617220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Activations clustered by prefix</a:t>
            </a:r>
          </a:p>
        </p:txBody>
      </p:sp>
      <p:pic>
        <p:nvPicPr>
          <p:cNvPr id="3" name="Picture 2" descr="fig_activation_cluste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49479"/>
            <a:ext cx="8778240" cy="37131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Hidden-state correlation</a:t>
            </a:r>
          </a:p>
        </p:txBody>
      </p:sp>
      <p:pic>
        <p:nvPicPr>
          <p:cNvPr id="3" name="Picture 2" descr="fig_state_corre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055" y="822960"/>
            <a:ext cx="548188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DFA PCA geometry and feature separation</a:t>
            </a:r>
          </a:p>
        </p:txBody>
      </p:sp>
      <p:pic>
        <p:nvPicPr>
          <p:cNvPr id="3" name="Picture 2" descr="fig_dfa_pca_geome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050" y="822960"/>
            <a:ext cx="430989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Example selective units</a:t>
            </a:r>
          </a:p>
        </p:txBody>
      </p:sp>
      <p:pic>
        <p:nvPicPr>
          <p:cNvPr id="3" name="Picture 2" descr="fig_example_un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55" y="822960"/>
            <a:ext cx="6144889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Linear decoding with word identity</a:t>
            </a:r>
          </a:p>
        </p:txBody>
      </p:sp>
      <p:pic>
        <p:nvPicPr>
          <p:cNvPr id="3" name="Picture 2" descr="fig_decoding_with_w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55178"/>
            <a:ext cx="8778240" cy="25017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DFA states and trajectories across seeds</a:t>
            </a:r>
          </a:p>
        </p:txBody>
      </p:sp>
      <p:pic>
        <p:nvPicPr>
          <p:cNvPr id="3" name="Picture 2" descr="fig_word_trajector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2296"/>
            <a:ext cx="8778240" cy="380756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Mixed-vocab scaling overview</a:t>
            </a:r>
          </a:p>
        </p:txBody>
      </p:sp>
      <p:pic>
        <p:nvPicPr>
          <p:cNvPr id="3" name="Picture 2" descr="fig_mixed_scaling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01236"/>
            <a:ext cx="8778240" cy="300968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 heatmaps across DFA size</a:t>
            </a:r>
          </a:p>
        </p:txBody>
      </p:sp>
      <p:pic>
        <p:nvPicPr>
          <p:cNvPr id="3" name="Picture 2" descr="fig_activation_heatmap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09" y="822960"/>
            <a:ext cx="610118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Closed-loop trajectories by DFA span</a:t>
            </a:r>
          </a:p>
        </p:txBody>
      </p:sp>
      <p:pic>
        <p:nvPicPr>
          <p:cNvPr id="3" name="Picture 2" descr="fig_mixed_traj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186" y="822960"/>
            <a:ext cx="4087626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Readout curves and learning</a:t>
            </a:r>
          </a:p>
        </p:txBody>
      </p:sp>
      <p:pic>
        <p:nvPicPr>
          <p:cNvPr id="3" name="Picture 2" descr="fig_mixed_decoding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410" y="822960"/>
            <a:ext cx="412117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Within-feature geometry and unit selectivity</a:t>
            </a:r>
          </a:p>
        </p:txBody>
      </p:sp>
      <p:pic>
        <p:nvPicPr>
          <p:cNvPr id="3" name="Picture 2" descr="fig_mixed_cosine_with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4" y="822960"/>
            <a:ext cx="820933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Readout vs DFA at fixed PCs</a:t>
            </a:r>
          </a:p>
        </p:txBody>
      </p:sp>
      <p:pic>
        <p:nvPicPr>
          <p:cNvPr id="3" name="Picture 2" descr="fig_mixed_decoding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46" y="822960"/>
            <a:ext cx="8076707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Weight matrices by DFA size</a:t>
            </a:r>
          </a:p>
        </p:txBody>
      </p:sp>
      <p:pic>
        <p:nvPicPr>
          <p:cNvPr id="3" name="Picture 2" descr="fig_weight_matrice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24" y="822960"/>
            <a:ext cx="6271751" cy="416623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Weight graph structure and motifs vs DFA</a:t>
            </a:r>
          </a:p>
        </p:txBody>
      </p:sp>
      <p:pic>
        <p:nvPicPr>
          <p:cNvPr id="3" name="Picture 2" descr="fig_weight_graph_motifs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822960"/>
            <a:ext cx="3600450" cy="41662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