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1fc4935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1fc4935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1fc4935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1fc4935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1fc49350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1fc49350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c96c85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3c96c85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fc49350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1fc49350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fc49350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1fc49350a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1fc49350a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1fc49350a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4272c5c7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4272c5c7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4272c5c7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4272c5c7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2225" lvl="0" marL="0" rtl="0" algn="r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t/>
            </a:r>
            <a:endParaRPr/>
          </a:p>
          <a:p>
            <a:pPr indent="-22225" lvl="1" marL="457200" rtl="0" algn="l">
              <a:spcBef>
                <a:spcPts val="0"/>
              </a:spcBef>
              <a:spcAft>
                <a:spcPts val="0"/>
              </a:spcAft>
              <a:buSzPct val="77778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2" marL="914400" rtl="0" algn="l">
              <a:spcBef>
                <a:spcPts val="0"/>
              </a:spcBef>
              <a:spcAft>
                <a:spcPts val="0"/>
              </a:spcAft>
              <a:buSzPct val="77778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3" marL="1371600" rtl="0" algn="l">
              <a:spcBef>
                <a:spcPts val="0"/>
              </a:spcBef>
              <a:spcAft>
                <a:spcPts val="0"/>
              </a:spcAft>
              <a:buSzPct val="77778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4" marL="1828800" rtl="0" algn="l">
              <a:spcBef>
                <a:spcPts val="0"/>
              </a:spcBef>
              <a:spcAft>
                <a:spcPts val="0"/>
              </a:spcAft>
              <a:buSzPct val="77778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5" marL="2286000" rtl="0" algn="l">
              <a:spcBef>
                <a:spcPts val="0"/>
              </a:spcBef>
              <a:spcAft>
                <a:spcPts val="0"/>
              </a:spcAft>
              <a:buSzPct val="77778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6" marL="2743200" rtl="0" algn="l">
              <a:spcBef>
                <a:spcPts val="0"/>
              </a:spcBef>
              <a:spcAft>
                <a:spcPts val="0"/>
              </a:spcAft>
              <a:buSzPct val="77778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7" marL="3200400" rtl="0" algn="l">
              <a:spcBef>
                <a:spcPts val="0"/>
              </a:spcBef>
              <a:spcAft>
                <a:spcPts val="0"/>
              </a:spcAft>
              <a:buSzPct val="77778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8" marL="3657600" rtl="0" algn="l">
              <a:spcBef>
                <a:spcPts val="0"/>
              </a:spcBef>
              <a:spcAft>
                <a:spcPts val="0"/>
              </a:spcAft>
              <a:buSzPct val="77778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8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4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0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8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8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8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4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0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8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8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4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0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18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6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6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4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0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18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6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6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32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8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4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20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20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463750" y="1371628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roups.lis.illinois.edu/amag/langev/author/pkkuhl.html" TargetMode="External"/><Relationship Id="rId4" Type="http://schemas.openxmlformats.org/officeDocument/2006/relationships/hyperlink" Target="http://groups.lis.illinois.edu/amag/langev/pubtype/article_NatureReviewsNeuroscience.html" TargetMode="External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722550" y="354701"/>
            <a:ext cx="7698900" cy="15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27654"/>
              <a:buNone/>
            </a:pPr>
            <a:r>
              <a:rPr lang="en" sz="3580"/>
              <a:t>Recurrent networks trained on statistical learning tasks reveal </a:t>
            </a:r>
            <a:r>
              <a:rPr lang="en" sz="3580"/>
              <a:t>principles</a:t>
            </a:r>
            <a:r>
              <a:rPr lang="en" sz="3580"/>
              <a:t> of neural sequence representation</a:t>
            </a:r>
            <a:endParaRPr sz="3580"/>
          </a:p>
        </p:txBody>
      </p:sp>
      <p:pic>
        <p:nvPicPr>
          <p:cNvPr id="136" name="Google Shape;136;p26"/>
          <p:cNvPicPr preferRelativeResize="0"/>
          <p:nvPr/>
        </p:nvPicPr>
        <p:blipFill rotWithShape="1">
          <a:blip r:embed="rId3">
            <a:alphaModFix/>
          </a:blip>
          <a:srcRect b="0" l="0" r="45304" t="6358"/>
          <a:stretch/>
        </p:blipFill>
        <p:spPr>
          <a:xfrm>
            <a:off x="1767225" y="2114725"/>
            <a:ext cx="5609549" cy="24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picture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49600" y="1689575"/>
            <a:ext cx="8520600" cy="19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brain needs to store and represent sequences of primitives (phonemes-&gt;words, muscle movements-&gt;motor </a:t>
            </a:r>
            <a:r>
              <a:rPr lang="en"/>
              <a:t>sequences, etc.).</a:t>
            </a:r>
            <a:br>
              <a:rPr lang="en"/>
            </a:br>
            <a:br>
              <a:rPr lang="en"/>
            </a:br>
            <a:r>
              <a:rPr lang="en"/>
              <a:t>How are these representations stored in the brain, and how are they recalled/produced in a sequential manner?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To a first approximation, the brain is a recurrent neural network.</a:t>
            </a:r>
            <a:endParaRPr/>
          </a:p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output of the brain at any given time is a function of the </a:t>
            </a:r>
            <a:r>
              <a:rPr i="1" lang="en"/>
              <a:t>state </a:t>
            </a:r>
            <a:r>
              <a:rPr lang="en"/>
              <a:t>of the network at that time; the output of the network over a period of time is a </a:t>
            </a:r>
            <a:r>
              <a:rPr i="1" lang="en"/>
              <a:t>trajectory</a:t>
            </a:r>
            <a:r>
              <a:rPr lang="en"/>
              <a:t> through the state space.</a:t>
            </a:r>
            <a:endParaRPr/>
          </a:p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brain originally learns sequences without any prior assumptions about sequence structure; all learned structure is emergent from naive next token prediction.</a:t>
            </a:r>
            <a:endParaRPr/>
          </a:p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Once learned, the brain produces sequences via a closed loop process - it generates (predicts) a token, which is fed as an input to the network at the next time step.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questions to be addressed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What do trajectory geometries generally look like for learned sequences (words)?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stable is the representational geometry over </a:t>
            </a:r>
            <a:r>
              <a:rPr lang="en"/>
              <a:t>multiple random seeds? (Multiple realizability).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does word length influence trajectory geometry?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does the number of words stored influence trajectory geometry?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does the trajectory geometry look the way it does?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What sort of features (specific token, position in sequence, DFA state) are easily read out of the neural representation?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What sort of features do we see in single-neuron responses?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be addressed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How is lexical information (word position, character, etc.) represented in a recurrent network that learns to produce words?</a:t>
            </a:r>
            <a:endParaRPr sz="21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How does network’s representation of information change with vocabulary complexity?</a:t>
            </a:r>
            <a:endParaRPr sz="21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How do the network’s </a:t>
            </a:r>
            <a:r>
              <a:rPr i="1" lang="en" sz="2100"/>
              <a:t>weights </a:t>
            </a:r>
            <a:r>
              <a:rPr lang="en" sz="2100"/>
              <a:t>differ as a function of the complexity of the learned vocabulary (function-&gt;structure).</a:t>
            </a:r>
            <a:endParaRPr sz="2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Learning and Language Acquisition</a:t>
            </a:r>
            <a:b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533400" y="571500"/>
            <a:ext cx="8229600" cy="3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38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Saffran, Newport, Aslin. Science (1996). “Statistical Learning By 8-Month-Old Infants.”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infants learn to segment  auditory information into individual words?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6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6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sz="20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sz="2000"/>
          </a:p>
          <a:p>
            <a:pPr indent="0" lvl="0" marL="0" marR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Calibri"/>
              <a:buNone/>
            </a:pPr>
            <a:r>
              <a:rPr b="0" i="0" lang="en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Kuhl, P. K.</a:t>
            </a: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(2004) Early language acquisition: cracking the speech code. </a:t>
            </a:r>
            <a:r>
              <a:rPr b="0" i="1" lang="en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Nature Reviews Neuroscience</a:t>
            </a: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5(11):831--843.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100" y="2446904"/>
            <a:ext cx="7696200" cy="171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0125" y="171450"/>
            <a:ext cx="83766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Language Segmentation: Saffran Experiment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457200" y="971550"/>
            <a:ext cx="8229600" cy="26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Pseudo-words, like </a:t>
            </a:r>
            <a:r>
              <a:rPr b="1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</a:t>
            </a:r>
            <a:r>
              <a:rPr b="1" i="1" lang="en" sz="1400"/>
              <a:t>do</a:t>
            </a:r>
            <a:r>
              <a:rPr b="1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" sz="1400"/>
              <a:t> </a:t>
            </a:r>
            <a:r>
              <a:rPr b="1" i="1" lang="en" sz="1400"/>
              <a:t>ku</a:t>
            </a:r>
            <a:r>
              <a:rPr b="1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were randomly concatenated and presented to infa</a:t>
            </a:r>
            <a:r>
              <a:rPr lang="en" sz="1400"/>
              <a:t>nts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sequences such as: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bupad</a:t>
            </a:r>
            <a:r>
              <a:rPr b="1" i="1" lang="en" sz="3300"/>
              <a:t>oku</a:t>
            </a: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</a:t>
            </a:r>
            <a:r>
              <a:rPr b="1" i="1" lang="en" sz="3300"/>
              <a:t>ku</a:t>
            </a: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tababupa</a:t>
            </a:r>
            <a:r>
              <a:rPr b="1" i="1" lang="en" sz="3300"/>
              <a:t>do</a:t>
            </a: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</a:t>
            </a:r>
            <a:r>
              <a:rPr b="1" i="1" lang="en" sz="3300"/>
              <a:t>doku</a:t>
            </a: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 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04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probing session, infants demonstrated a greater familiarity with the “words”, </a:t>
            </a: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</a:t>
            </a:r>
            <a:r>
              <a:rPr i="1" lang="en" sz="1400"/>
              <a:t>do</a:t>
            </a: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i="1" lang="en" sz="1400"/>
              <a:t>ku</a:t>
            </a: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taba,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" sz="1400"/>
              <a:t>a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they did with non-words that crossed word boun</a:t>
            </a:r>
            <a:r>
              <a:rPr lang="en" sz="1400"/>
              <a:t>da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ries, like </a:t>
            </a: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</a:t>
            </a:r>
            <a:r>
              <a:rPr i="1" lang="en" sz="1400"/>
              <a:t>doku</a:t>
            </a:r>
            <a:endParaRPr b="0" i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-304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Conclusion: transitional probabilities between syllables allow infants to segment speech into indivi</a:t>
            </a:r>
            <a:r>
              <a:rPr lang="en" sz="1400"/>
              <a:t>du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words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4000"/>
              <a:t>bu pa do ku ta ba</a:t>
            </a:r>
            <a:endParaRPr sz="40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4000"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sz="4000"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4000"/>
          </a:p>
        </p:txBody>
      </p:sp>
      <p:grpSp>
        <p:nvGrpSpPr>
          <p:cNvPr id="174" name="Google Shape;174;p32"/>
          <p:cNvGrpSpPr/>
          <p:nvPr/>
        </p:nvGrpSpPr>
        <p:grpSpPr>
          <a:xfrm>
            <a:off x="3105075" y="3797980"/>
            <a:ext cx="2933850" cy="380408"/>
            <a:chOff x="3105075" y="3584430"/>
            <a:chExt cx="2933850" cy="380408"/>
          </a:xfrm>
        </p:grpSpPr>
        <p:sp>
          <p:nvSpPr>
            <p:cNvPr id="175" name="Google Shape;175;p32"/>
            <p:cNvSpPr/>
            <p:nvPr/>
          </p:nvSpPr>
          <p:spPr>
            <a:xfrm>
              <a:off x="3686100" y="3850538"/>
              <a:ext cx="381000" cy="1143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25400">
              <a:solidFill>
                <a:srgbClr val="395E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2"/>
            <p:cNvSpPr/>
            <p:nvPr/>
          </p:nvSpPr>
          <p:spPr>
            <a:xfrm>
              <a:off x="4371900" y="3836250"/>
              <a:ext cx="381000" cy="1143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25400">
              <a:solidFill>
                <a:srgbClr val="395E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2"/>
            <p:cNvSpPr/>
            <p:nvPr/>
          </p:nvSpPr>
          <p:spPr>
            <a:xfrm>
              <a:off x="5019600" y="3843394"/>
              <a:ext cx="381000" cy="1143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25400">
              <a:solidFill>
                <a:srgbClr val="395E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2"/>
            <p:cNvSpPr/>
            <p:nvPr/>
          </p:nvSpPr>
          <p:spPr>
            <a:xfrm>
              <a:off x="5591100" y="3843394"/>
              <a:ext cx="381000" cy="1143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25400">
              <a:solidFill>
                <a:srgbClr val="395E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2"/>
            <p:cNvSpPr txBox="1"/>
            <p:nvPr/>
          </p:nvSpPr>
          <p:spPr>
            <a:xfrm>
              <a:off x="3105075" y="3608095"/>
              <a:ext cx="5145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0" name="Google Shape;180;p32"/>
            <p:cNvGrpSpPr/>
            <p:nvPr/>
          </p:nvGrpSpPr>
          <p:grpSpPr>
            <a:xfrm>
              <a:off x="3152700" y="3584430"/>
              <a:ext cx="2886225" cy="380408"/>
              <a:chOff x="3152700" y="3584430"/>
              <a:chExt cx="2886225" cy="380408"/>
            </a:xfrm>
          </p:grpSpPr>
          <p:sp>
            <p:nvSpPr>
              <p:cNvPr id="181" name="Google Shape;181;p32"/>
              <p:cNvSpPr/>
              <p:nvPr/>
            </p:nvSpPr>
            <p:spPr>
              <a:xfrm>
                <a:off x="3152700" y="3850538"/>
                <a:ext cx="381000" cy="114300"/>
              </a:xfrm>
              <a:prstGeom prst="curvedDownArrow">
                <a:avLst>
                  <a:gd fmla="val 25000" name="adj1"/>
                  <a:gd fmla="val 50000" name="adj2"/>
                  <a:gd fmla="val 25000" name="adj3"/>
                </a:avLst>
              </a:prstGeom>
              <a:solidFill>
                <a:schemeClr val="accent1"/>
              </a:solidFill>
              <a:ln cap="flat" cmpd="sng" w="25400">
                <a:solidFill>
                  <a:srgbClr val="395E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32"/>
              <p:cNvSpPr txBox="1"/>
              <p:nvPr/>
            </p:nvSpPr>
            <p:spPr>
              <a:xfrm>
                <a:off x="3686100" y="3605417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1.0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32"/>
              <p:cNvSpPr txBox="1"/>
              <p:nvPr/>
            </p:nvSpPr>
            <p:spPr>
              <a:xfrm>
                <a:off x="4952925" y="3584430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1.0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32"/>
              <p:cNvSpPr txBox="1"/>
              <p:nvPr/>
            </p:nvSpPr>
            <p:spPr>
              <a:xfrm>
                <a:off x="5524425" y="3589341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1.0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32"/>
              <p:cNvSpPr txBox="1"/>
              <p:nvPr/>
            </p:nvSpPr>
            <p:spPr>
              <a:xfrm>
                <a:off x="4305225" y="3605417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0.5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421900" y="111803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Vocabularies for statistical learning</a:t>
            </a:r>
            <a:endParaRPr sz="3600"/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500" y="969203"/>
            <a:ext cx="5827008" cy="386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457200" y="70643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an RNN</a:t>
            </a:r>
            <a:endParaRPr/>
          </a:p>
        </p:txBody>
      </p:sp>
      <p:pic>
        <p:nvPicPr>
          <p:cNvPr id="197" name="Google Shape;19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88" y="1033358"/>
            <a:ext cx="8246435" cy="377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pic>
        <p:nvPicPr>
          <p:cNvPr id="203" name="Google Shape;203;p35"/>
          <p:cNvPicPr preferRelativeResize="0"/>
          <p:nvPr/>
        </p:nvPicPr>
        <p:blipFill rotWithShape="1">
          <a:blip r:embed="rId3">
            <a:alphaModFix/>
          </a:blip>
          <a:srcRect b="0" l="0" r="0" t="19711"/>
          <a:stretch/>
        </p:blipFill>
        <p:spPr>
          <a:xfrm>
            <a:off x="175950" y="1335050"/>
            <a:ext cx="8839200" cy="30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