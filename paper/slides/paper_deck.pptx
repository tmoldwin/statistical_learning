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1" r:id="rId1"/>
    <p:sldMasterId id="2147483672" r:id="rId2"/>
  </p:sldMasterIdLst>
  <p:notesMasterIdLst>
    <p:notesMasterId r:id="rId3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f1fc49350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f1fc49350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f1fc49350a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f1fc49350a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1fc49350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f1fc49350a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f3c96c856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f3c96c856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f1fc49350a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g3f1fc49350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1fc49350a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g3f1fc49350a_0_3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f1fc49350a_0_4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f1fc49350a_0_4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f4272c5c7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f4272c5c7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f4272c5c7e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f4272c5c7e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  <a:defRPr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»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31750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25000" lnSpcReduction="20000"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22225" algn="r" rtl="0">
              <a:spcBef>
                <a:spcPts val="0"/>
              </a:spcBef>
              <a:spcAft>
                <a:spcPts val="0"/>
              </a:spcAft>
              <a:buSzPct val="116667"/>
              <a:buChar char="●"/>
            </a:pPr>
            <a:endParaRPr/>
          </a:p>
          <a:p>
            <a:pPr marL="457200" lvl="1" indent="-22225" algn="l" rtl="0">
              <a:spcBef>
                <a:spcPts val="0"/>
              </a:spcBef>
              <a:spcAft>
                <a:spcPts val="0"/>
              </a:spcAft>
              <a:buSzPct val="77778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22225" algn="l" rtl="0">
              <a:spcBef>
                <a:spcPts val="0"/>
              </a:spcBef>
              <a:spcAft>
                <a:spcPts val="0"/>
              </a:spcAft>
              <a:buSzPct val="77778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22225" algn="l" rtl="0">
              <a:spcBef>
                <a:spcPts val="0"/>
              </a:spcBef>
              <a:spcAft>
                <a:spcPts val="0"/>
              </a:spcAft>
              <a:buSzPct val="77778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22225" algn="l" rtl="0">
              <a:spcBef>
                <a:spcPts val="0"/>
              </a:spcBef>
              <a:spcAft>
                <a:spcPts val="0"/>
              </a:spcAft>
              <a:buSzPct val="77778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22225" algn="l" rtl="0">
              <a:spcBef>
                <a:spcPts val="0"/>
              </a:spcBef>
              <a:spcAft>
                <a:spcPts val="0"/>
              </a:spcAft>
              <a:buSzPct val="77778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22225" algn="l" rtl="0">
              <a:spcBef>
                <a:spcPts val="0"/>
              </a:spcBef>
              <a:spcAft>
                <a:spcPts val="0"/>
              </a:spcAft>
              <a:buSzPct val="77778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22225" algn="l" rtl="0">
              <a:spcBef>
                <a:spcPts val="0"/>
              </a:spcBef>
              <a:spcAft>
                <a:spcPts val="0"/>
              </a:spcAft>
              <a:buSzPct val="77778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22225" algn="l" rtl="0">
              <a:spcBef>
                <a:spcPts val="0"/>
              </a:spcBef>
              <a:spcAft>
                <a:spcPts val="0"/>
              </a:spcAft>
              <a:buSzPct val="77778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>
            <a:spLocks noGrp="1"/>
          </p:cNvSpPr>
          <p:nvPr>
            <p:ph type="ctrTitle"/>
          </p:nvPr>
        </p:nvSpPr>
        <p:spPr>
          <a:xfrm>
            <a:off x="685800" y="1597819"/>
            <a:ext cx="7772400" cy="11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3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2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175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175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»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16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>
            <a:spLocks noGrp="1"/>
          </p:cNvSpPr>
          <p:nvPr>
            <p:ph type="title"/>
          </p:nvPr>
        </p:nvSpPr>
        <p:spPr>
          <a:xfrm>
            <a:off x="722313" y="3305175"/>
            <a:ext cx="7772400" cy="10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small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body" idx="1"/>
          </p:nvPr>
        </p:nvSpPr>
        <p:spPr>
          <a:xfrm>
            <a:off x="722313" y="2180035"/>
            <a:ext cx="7772400" cy="11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228600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17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7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8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4038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640"/>
              </a:spcBef>
              <a:spcAft>
                <a:spcPts val="0"/>
              </a:spcAft>
              <a:buSzPts val="1400"/>
              <a:buChar char="•"/>
              <a:defRPr sz="2800"/>
            </a:lvl1pPr>
            <a:lvl2pPr marL="914400" lvl="1" indent="-317500">
              <a:spcBef>
                <a:spcPts val="560"/>
              </a:spcBef>
              <a:spcAft>
                <a:spcPts val="0"/>
              </a:spcAft>
              <a:buSzPts val="1400"/>
              <a:buChar char="–"/>
              <a:defRPr sz="2400"/>
            </a:lvl2pPr>
            <a:lvl3pPr marL="1371600" lvl="2" indent="-317500">
              <a:spcBef>
                <a:spcPts val="480"/>
              </a:spcBef>
              <a:spcAft>
                <a:spcPts val="0"/>
              </a:spcAft>
              <a:buSzPts val="1400"/>
              <a:buChar char="•"/>
              <a:defRPr sz="20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–"/>
              <a:defRPr sz="18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8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8pPr>
            <a:lvl9pPr marL="4114800" lvl="8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body" idx="2"/>
          </p:nvPr>
        </p:nvSpPr>
        <p:spPr>
          <a:xfrm>
            <a:off x="4648200" y="1200150"/>
            <a:ext cx="4038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640"/>
              </a:spcBef>
              <a:spcAft>
                <a:spcPts val="0"/>
              </a:spcAft>
              <a:buSzPts val="1400"/>
              <a:buChar char="•"/>
              <a:defRPr sz="2800"/>
            </a:lvl1pPr>
            <a:lvl2pPr marL="914400" lvl="1" indent="-317500">
              <a:spcBef>
                <a:spcPts val="560"/>
              </a:spcBef>
              <a:spcAft>
                <a:spcPts val="0"/>
              </a:spcAft>
              <a:buSzPts val="1400"/>
              <a:buChar char="–"/>
              <a:defRPr sz="2400"/>
            </a:lvl2pPr>
            <a:lvl3pPr marL="1371600" lvl="2" indent="-317500">
              <a:spcBef>
                <a:spcPts val="480"/>
              </a:spcBef>
              <a:spcAft>
                <a:spcPts val="0"/>
              </a:spcAft>
              <a:buSzPts val="1400"/>
              <a:buChar char="•"/>
              <a:defRPr sz="20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–"/>
              <a:defRPr sz="18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8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8pPr>
            <a:lvl9pPr marL="4114800" lvl="8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800"/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9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body" idx="1"/>
          </p:nvPr>
        </p:nvSpPr>
        <p:spPr>
          <a:xfrm>
            <a:off x="457200" y="1151335"/>
            <a:ext cx="40401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228600">
              <a:spcBef>
                <a:spcPts val="640"/>
              </a:spcBef>
              <a:spcAft>
                <a:spcPts val="0"/>
              </a:spcAft>
              <a:buSzPts val="1400"/>
              <a:buFont typeface="Calibri"/>
              <a:buNone/>
              <a:defRPr sz="2400" b="1"/>
            </a:lvl1pPr>
            <a:lvl2pPr marL="914400" lvl="1" indent="-228600">
              <a:spcBef>
                <a:spcPts val="560"/>
              </a:spcBef>
              <a:spcAft>
                <a:spcPts val="0"/>
              </a:spcAft>
              <a:buSzPts val="1400"/>
              <a:buFont typeface="Calibri"/>
              <a:buNone/>
              <a:defRPr sz="2000" b="1"/>
            </a:lvl2pPr>
            <a:lvl3pPr marL="1371600" lvl="2" indent="-228600">
              <a:spcBef>
                <a:spcPts val="480"/>
              </a:spcBef>
              <a:spcAft>
                <a:spcPts val="0"/>
              </a:spcAft>
              <a:buSzPts val="1400"/>
              <a:buFont typeface="Calibri"/>
              <a:buNone/>
              <a:defRPr sz="1800" b="1"/>
            </a:lvl3pPr>
            <a:lvl4pPr marL="1828800" lvl="3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4pPr>
            <a:lvl5pPr marL="2286000" lvl="4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5pPr>
            <a:lvl6pPr marL="2743200" lvl="5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6pPr>
            <a:lvl7pPr marL="3200400" lvl="6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7pPr>
            <a:lvl8pPr marL="3657600" lvl="7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8pPr>
            <a:lvl9pPr marL="4114800" lvl="8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9"/>
          <p:cNvSpPr txBox="1">
            <a:spLocks noGrp="1"/>
          </p:cNvSpPr>
          <p:nvPr>
            <p:ph type="body" idx="2"/>
          </p:nvPr>
        </p:nvSpPr>
        <p:spPr>
          <a:xfrm>
            <a:off x="457200" y="1631156"/>
            <a:ext cx="4040100" cy="29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640"/>
              </a:spcBef>
              <a:spcAft>
                <a:spcPts val="0"/>
              </a:spcAft>
              <a:buSzPts val="1400"/>
              <a:buChar char="•"/>
              <a:defRPr sz="2400"/>
            </a:lvl1pPr>
            <a:lvl2pPr marL="914400" lvl="1" indent="-317500">
              <a:spcBef>
                <a:spcPts val="560"/>
              </a:spcBef>
              <a:spcAft>
                <a:spcPts val="0"/>
              </a:spcAft>
              <a:buSzPts val="1400"/>
              <a:buChar char="–"/>
              <a:defRPr sz="2000"/>
            </a:lvl2pPr>
            <a:lvl3pPr marL="1371600" lvl="2" indent="-317500">
              <a:spcBef>
                <a:spcPts val="480"/>
              </a:spcBef>
              <a:spcAft>
                <a:spcPts val="0"/>
              </a:spcAft>
              <a:buSzPts val="1400"/>
              <a:buChar char="•"/>
              <a:defRPr sz="18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–"/>
              <a:defRPr sz="16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6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8pPr>
            <a:lvl9pPr marL="4114800" lvl="8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9pPr>
          </a:lstStyle>
          <a:p>
            <a:endParaRPr/>
          </a:p>
        </p:txBody>
      </p:sp>
      <p:sp>
        <p:nvSpPr>
          <p:cNvPr id="91" name="Google Shape;91;p19"/>
          <p:cNvSpPr txBox="1">
            <a:spLocks noGrp="1"/>
          </p:cNvSpPr>
          <p:nvPr>
            <p:ph type="body" idx="3"/>
          </p:nvPr>
        </p:nvSpPr>
        <p:spPr>
          <a:xfrm>
            <a:off x="4645025" y="1151335"/>
            <a:ext cx="40419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228600">
              <a:spcBef>
                <a:spcPts val="640"/>
              </a:spcBef>
              <a:spcAft>
                <a:spcPts val="0"/>
              </a:spcAft>
              <a:buSzPts val="1400"/>
              <a:buFont typeface="Calibri"/>
              <a:buNone/>
              <a:defRPr sz="2400" b="1"/>
            </a:lvl1pPr>
            <a:lvl2pPr marL="914400" lvl="1" indent="-228600">
              <a:spcBef>
                <a:spcPts val="560"/>
              </a:spcBef>
              <a:spcAft>
                <a:spcPts val="0"/>
              </a:spcAft>
              <a:buSzPts val="1400"/>
              <a:buFont typeface="Calibri"/>
              <a:buNone/>
              <a:defRPr sz="2000" b="1"/>
            </a:lvl2pPr>
            <a:lvl3pPr marL="1371600" lvl="2" indent="-228600">
              <a:spcBef>
                <a:spcPts val="480"/>
              </a:spcBef>
              <a:spcAft>
                <a:spcPts val="0"/>
              </a:spcAft>
              <a:buSzPts val="1400"/>
              <a:buFont typeface="Calibri"/>
              <a:buNone/>
              <a:defRPr sz="1800" b="1"/>
            </a:lvl3pPr>
            <a:lvl4pPr marL="1828800" lvl="3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4pPr>
            <a:lvl5pPr marL="2286000" lvl="4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5pPr>
            <a:lvl6pPr marL="2743200" lvl="5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6pPr>
            <a:lvl7pPr marL="3200400" lvl="6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7pPr>
            <a:lvl8pPr marL="3657600" lvl="7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8pPr>
            <a:lvl9pPr marL="4114800" lvl="8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9"/>
          <p:cNvSpPr txBox="1">
            <a:spLocks noGrp="1"/>
          </p:cNvSpPr>
          <p:nvPr>
            <p:ph type="body" idx="4"/>
          </p:nvPr>
        </p:nvSpPr>
        <p:spPr>
          <a:xfrm>
            <a:off x="4645025" y="1631156"/>
            <a:ext cx="4041900" cy="29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640"/>
              </a:spcBef>
              <a:spcAft>
                <a:spcPts val="0"/>
              </a:spcAft>
              <a:buSzPts val="1400"/>
              <a:buChar char="•"/>
              <a:defRPr sz="2400"/>
            </a:lvl1pPr>
            <a:lvl2pPr marL="914400" lvl="1" indent="-317500">
              <a:spcBef>
                <a:spcPts val="560"/>
              </a:spcBef>
              <a:spcAft>
                <a:spcPts val="0"/>
              </a:spcAft>
              <a:buSzPts val="1400"/>
              <a:buChar char="–"/>
              <a:defRPr sz="2000"/>
            </a:lvl2pPr>
            <a:lvl3pPr marL="1371600" lvl="2" indent="-317500">
              <a:spcBef>
                <a:spcPts val="480"/>
              </a:spcBef>
              <a:spcAft>
                <a:spcPts val="0"/>
              </a:spcAft>
              <a:buSzPts val="1400"/>
              <a:buChar char="•"/>
              <a:defRPr sz="18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–"/>
              <a:defRPr sz="16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6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8pPr>
            <a:lvl9pPr marL="4114800" lvl="8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600"/>
            </a:lvl9pPr>
          </a:lstStyle>
          <a:p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9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9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9" name="Google Shape;99;p20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0" name="Google Shape;100;p20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1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" name="Google Shape;104;p21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2"/>
          <p:cNvSpPr txBox="1">
            <a:spLocks noGrp="1"/>
          </p:cNvSpPr>
          <p:nvPr>
            <p:ph type="title"/>
          </p:nvPr>
        </p:nvSpPr>
        <p:spPr>
          <a:xfrm>
            <a:off x="457200" y="204788"/>
            <a:ext cx="3008400" cy="8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7" name="Google Shape;107;p22"/>
          <p:cNvSpPr txBox="1">
            <a:spLocks noGrp="1"/>
          </p:cNvSpPr>
          <p:nvPr>
            <p:ph type="body" idx="1"/>
          </p:nvPr>
        </p:nvSpPr>
        <p:spPr>
          <a:xfrm>
            <a:off x="3575050" y="204788"/>
            <a:ext cx="5111700" cy="43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640"/>
              </a:spcBef>
              <a:spcAft>
                <a:spcPts val="0"/>
              </a:spcAft>
              <a:buSzPts val="1400"/>
              <a:buChar char="•"/>
              <a:defRPr sz="3200"/>
            </a:lvl1pPr>
            <a:lvl2pPr marL="914400" lvl="1" indent="-317500">
              <a:spcBef>
                <a:spcPts val="560"/>
              </a:spcBef>
              <a:spcAft>
                <a:spcPts val="0"/>
              </a:spcAft>
              <a:buSzPts val="1400"/>
              <a:buChar char="–"/>
              <a:defRPr sz="2800"/>
            </a:lvl2pPr>
            <a:lvl3pPr marL="1371600" lvl="2" indent="-317500">
              <a:spcBef>
                <a:spcPts val="480"/>
              </a:spcBef>
              <a:spcAft>
                <a:spcPts val="0"/>
              </a:spcAft>
              <a:buSzPts val="1400"/>
              <a:buChar char="•"/>
              <a:defRPr sz="2400"/>
            </a:lvl3pPr>
            <a:lvl4pPr marL="1828800" lvl="3" indent="-317500">
              <a:spcBef>
                <a:spcPts val="400"/>
              </a:spcBef>
              <a:spcAft>
                <a:spcPts val="0"/>
              </a:spcAft>
              <a:buSzPts val="1400"/>
              <a:buChar char="–"/>
              <a:defRPr sz="2000"/>
            </a:lvl4pPr>
            <a:lvl5pPr marL="2286000" lvl="4" indent="-317500"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2000"/>
            </a:lvl5pPr>
            <a:lvl6pPr marL="2743200" lvl="5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2000"/>
            </a:lvl6pPr>
            <a:lvl7pPr marL="3200400" lvl="6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2000"/>
            </a:lvl7pPr>
            <a:lvl8pPr marL="3657600" lvl="7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2000"/>
            </a:lvl8pPr>
            <a:lvl9pPr marL="4114800" lvl="8" indent="-317500"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2000"/>
            </a:lvl9pPr>
          </a:lstStyle>
          <a:p>
            <a:endParaRPr/>
          </a:p>
        </p:txBody>
      </p:sp>
      <p:sp>
        <p:nvSpPr>
          <p:cNvPr id="108" name="Google Shape;108;p22"/>
          <p:cNvSpPr txBox="1">
            <a:spLocks noGrp="1"/>
          </p:cNvSpPr>
          <p:nvPr>
            <p:ph type="body" idx="2"/>
          </p:nvPr>
        </p:nvSpPr>
        <p:spPr>
          <a:xfrm>
            <a:off x="457200" y="1076325"/>
            <a:ext cx="3008400" cy="3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28600">
              <a:spcBef>
                <a:spcPts val="640"/>
              </a:spcBef>
              <a:spcAft>
                <a:spcPts val="0"/>
              </a:spcAft>
              <a:buSzPts val="1400"/>
              <a:buFont typeface="Calibri"/>
              <a:buNone/>
              <a:defRPr sz="1400"/>
            </a:lvl1pPr>
            <a:lvl2pPr marL="914400" lvl="1" indent="-228600">
              <a:spcBef>
                <a:spcPts val="560"/>
              </a:spcBef>
              <a:spcAft>
                <a:spcPts val="0"/>
              </a:spcAft>
              <a:buSzPts val="1400"/>
              <a:buFont typeface="Calibri"/>
              <a:buNone/>
              <a:defRPr sz="1200"/>
            </a:lvl2pPr>
            <a:lvl3pPr marL="1371600" lvl="2" indent="-228600">
              <a:spcBef>
                <a:spcPts val="480"/>
              </a:spcBef>
              <a:spcAft>
                <a:spcPts val="0"/>
              </a:spcAft>
              <a:buSzPts val="1400"/>
              <a:buFont typeface="Calibri"/>
              <a:buNone/>
              <a:defRPr sz="1000"/>
            </a:lvl3pPr>
            <a:lvl4pPr marL="1828800" lvl="3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4pPr>
            <a:lvl5pPr marL="2286000" lvl="4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5pPr>
            <a:lvl6pPr marL="2743200" lvl="5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6pPr>
            <a:lvl7pPr marL="3200400" lvl="6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7pPr>
            <a:lvl8pPr marL="3657600" lvl="7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8pPr>
            <a:lvl9pPr marL="4114800" lvl="8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9pPr>
          </a:lstStyle>
          <a:p>
            <a:endParaRPr/>
          </a:p>
        </p:txBody>
      </p:sp>
      <p:sp>
        <p:nvSpPr>
          <p:cNvPr id="109" name="Google Shape;109;p22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3"/>
          <p:cNvSpPr txBox="1">
            <a:spLocks noGrp="1"/>
          </p:cNvSpPr>
          <p:nvPr>
            <p:ph type="title"/>
          </p:nvPr>
        </p:nvSpPr>
        <p:spPr>
          <a:xfrm>
            <a:off x="1792288" y="3600450"/>
            <a:ext cx="5486400" cy="4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14" name="Google Shape;114;p23"/>
          <p:cNvSpPr>
            <a:spLocks noGrp="1"/>
          </p:cNvSpPr>
          <p:nvPr>
            <p:ph type="pic" idx="2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sz="3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23"/>
          <p:cNvSpPr txBox="1">
            <a:spLocks noGrp="1"/>
          </p:cNvSpPr>
          <p:nvPr>
            <p:ph type="body" idx="1"/>
          </p:nvPr>
        </p:nvSpPr>
        <p:spPr>
          <a:xfrm>
            <a:off x="1792288" y="4025504"/>
            <a:ext cx="54864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28600">
              <a:spcBef>
                <a:spcPts val="640"/>
              </a:spcBef>
              <a:spcAft>
                <a:spcPts val="0"/>
              </a:spcAft>
              <a:buSzPts val="1400"/>
              <a:buFont typeface="Calibri"/>
              <a:buNone/>
              <a:defRPr sz="1400"/>
            </a:lvl1pPr>
            <a:lvl2pPr marL="914400" lvl="1" indent="-228600">
              <a:spcBef>
                <a:spcPts val="560"/>
              </a:spcBef>
              <a:spcAft>
                <a:spcPts val="0"/>
              </a:spcAft>
              <a:buSzPts val="1400"/>
              <a:buFont typeface="Calibri"/>
              <a:buNone/>
              <a:defRPr sz="1200"/>
            </a:lvl2pPr>
            <a:lvl3pPr marL="1371600" lvl="2" indent="-228600">
              <a:spcBef>
                <a:spcPts val="480"/>
              </a:spcBef>
              <a:spcAft>
                <a:spcPts val="0"/>
              </a:spcAft>
              <a:buSzPts val="1400"/>
              <a:buFont typeface="Calibri"/>
              <a:buNone/>
              <a:defRPr sz="1000"/>
            </a:lvl3pPr>
            <a:lvl4pPr marL="1828800" lvl="3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4pPr>
            <a:lvl5pPr marL="2286000" lvl="4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5pPr>
            <a:lvl6pPr marL="2743200" lvl="5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6pPr>
            <a:lvl7pPr marL="3200400" lvl="6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7pPr>
            <a:lvl8pPr marL="3657600" lvl="7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8pPr>
            <a:lvl9pPr marL="4114800" lvl="8" indent="-228600">
              <a:spcBef>
                <a:spcPts val="400"/>
              </a:spcBef>
              <a:spcAft>
                <a:spcPts val="0"/>
              </a:spcAft>
              <a:buSzPts val="1400"/>
              <a:buFont typeface="Calibri"/>
              <a:buNone/>
              <a:defRPr sz="900"/>
            </a:lvl9pPr>
          </a:lstStyle>
          <a:p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23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8" name="Google Shape;118;p23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1" name="Google Shape;121;p24"/>
          <p:cNvSpPr txBox="1">
            <a:spLocks noGrp="1"/>
          </p:cNvSpPr>
          <p:nvPr>
            <p:ph type="body" idx="1"/>
          </p:nvPr>
        </p:nvSpPr>
        <p:spPr>
          <a:xfrm rot="5400000">
            <a:off x="2874750" y="-1217400"/>
            <a:ext cx="33945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175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175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»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2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3" name="Google Shape;123;p2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4" name="Google Shape;124;p2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5"/>
          <p:cNvSpPr txBox="1">
            <a:spLocks noGrp="1"/>
          </p:cNvSpPr>
          <p:nvPr>
            <p:ph type="title"/>
          </p:nvPr>
        </p:nvSpPr>
        <p:spPr>
          <a:xfrm rot="5400000">
            <a:off x="5463750" y="1371628"/>
            <a:ext cx="43887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25"/>
          <p:cNvSpPr txBox="1">
            <a:spLocks noGrp="1"/>
          </p:cNvSpPr>
          <p:nvPr>
            <p:ph type="body" idx="1"/>
          </p:nvPr>
        </p:nvSpPr>
        <p:spPr>
          <a:xfrm rot="5400000">
            <a:off x="1272750" y="-609572"/>
            <a:ext cx="438870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175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175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»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8" name="Google Shape;128;p25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25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0" name="Google Shape;130;p25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175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-889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-88900" algn="l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-88900" algn="l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-88900" algn="l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-88900" algn="r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/>
          </a:p>
          <a:p>
            <a:pPr marL="457200" lvl="1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914400" lvl="2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1371600" lvl="3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1828800" lvl="4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2286000" lvl="5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  <a:p>
            <a:pPr marL="2743200" lvl="6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sz="1800">
              <a:solidFill>
                <a:schemeClr val="dk1"/>
              </a:solidFill>
            </a:endParaRPr>
          </a:p>
          <a:p>
            <a:pPr marL="3200400" lvl="7" indent="-889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800">
              <a:solidFill>
                <a:schemeClr val="dk1"/>
              </a:solidFill>
            </a:endParaRPr>
          </a:p>
          <a:p>
            <a:pPr marL="3657600" lvl="8" indent="-889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800">
              <a:solidFill>
                <a:schemeClr val="dk1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groups.lis.illinois.edu/amag/langev/author/pkkuhl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hyperlink" Target="http://groups.lis.illinois.edu/amag/langev/pubtype/article_NatureReviewsNeuroscience.html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6"/>
          <p:cNvSpPr txBox="1">
            <a:spLocks noGrp="1"/>
          </p:cNvSpPr>
          <p:nvPr>
            <p:ph type="ctrTitle"/>
          </p:nvPr>
        </p:nvSpPr>
        <p:spPr>
          <a:xfrm>
            <a:off x="722550" y="354701"/>
            <a:ext cx="7698900" cy="1569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ct val="27654"/>
              <a:buNone/>
            </a:pPr>
            <a:r>
              <a:rPr lang="en" sz="3580"/>
              <a:t>Recurrent networks trained on statistical learning tasks reveal principles of neural sequence representation</a:t>
            </a:r>
            <a:endParaRPr sz="3580"/>
          </a:p>
        </p:txBody>
      </p:sp>
      <p:pic>
        <p:nvPicPr>
          <p:cNvPr id="136" name="Google Shape;136;p26"/>
          <p:cNvPicPr preferRelativeResize="0"/>
          <p:nvPr/>
        </p:nvPicPr>
        <p:blipFill rotWithShape="1">
          <a:blip r:embed="rId3">
            <a:alphaModFix/>
          </a:blip>
          <a:srcRect t="6358" r="45304"/>
          <a:stretch/>
        </p:blipFill>
        <p:spPr>
          <a:xfrm>
            <a:off x="1767225" y="2114725"/>
            <a:ext cx="5609549" cy="2484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big picture</a:t>
            </a:r>
            <a:endParaRPr/>
          </a:p>
        </p:txBody>
      </p:sp>
      <p:sp>
        <p:nvSpPr>
          <p:cNvPr id="142" name="Google Shape;142;p27"/>
          <p:cNvSpPr txBox="1">
            <a:spLocks noGrp="1"/>
          </p:cNvSpPr>
          <p:nvPr>
            <p:ph type="body" idx="1"/>
          </p:nvPr>
        </p:nvSpPr>
        <p:spPr>
          <a:xfrm>
            <a:off x="349600" y="1689575"/>
            <a:ext cx="8520600" cy="192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The brain needs to store and represent sequences of primitives (phonemes-&gt;words, muscle movements-&gt;motor sequences, etc.).</a:t>
            </a:r>
            <a:br>
              <a:rPr lang="en"/>
            </a:br>
            <a:br>
              <a:rPr lang="en"/>
            </a:br>
            <a:r>
              <a:rPr lang="en"/>
              <a:t>How are these representations stored in the brain, and how are they recalled/produced in a sequential manner?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Assumptions</a:t>
            </a:r>
            <a:endParaRPr/>
          </a:p>
        </p:txBody>
      </p:sp>
      <p:sp>
        <p:nvSpPr>
          <p:cNvPr id="148" name="Google Shape;148;p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34328" algn="l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To a first approximation, the brain is a recurrent neural network.</a:t>
            </a:r>
            <a:endParaRPr/>
          </a:p>
          <a:p>
            <a:pPr marL="457200" lvl="0" indent="-334328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The output of the brain at any given time is a function of the </a:t>
            </a:r>
            <a:r>
              <a:rPr lang="en" i="1"/>
              <a:t>state </a:t>
            </a:r>
            <a:r>
              <a:rPr lang="en"/>
              <a:t>of the network at that time; the output of the network over a period of time is a </a:t>
            </a:r>
            <a:r>
              <a:rPr lang="en" i="1"/>
              <a:t>trajectory</a:t>
            </a:r>
            <a:r>
              <a:rPr lang="en"/>
              <a:t> through the state space.</a:t>
            </a:r>
            <a:endParaRPr/>
          </a:p>
          <a:p>
            <a:pPr marL="457200" lvl="0" indent="-334328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The brain originally learns sequences without any prior assumptions about sequence structure; all learned structure is emergent from naive next token prediction.</a:t>
            </a:r>
            <a:endParaRPr/>
          </a:p>
          <a:p>
            <a:pPr marL="457200" lvl="0" indent="-334328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Once learned, the brain produces sequences via a closed loop process - it generates (predicts) a token, which is fed as an input to the network at the next time step.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Specific questions to be addressed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6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457200" lvl="0" indent="-31718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What do trajectory geometries generally look like for learned sequences (words)?</a:t>
            </a:r>
            <a:endParaRPr/>
          </a:p>
          <a:p>
            <a:pPr marL="457200" lvl="0" indent="-31718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How stable is the representational geometry over multiple random seeds? (Multiple realizability).</a:t>
            </a:r>
            <a:endParaRPr/>
          </a:p>
          <a:p>
            <a:pPr marL="457200" lvl="0" indent="-31718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How does word length influence trajectory geometry?</a:t>
            </a:r>
            <a:endParaRPr/>
          </a:p>
          <a:p>
            <a:pPr marL="457200" lvl="0" indent="-31718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How does the number of words stored influence trajectory geometry?</a:t>
            </a:r>
            <a:endParaRPr/>
          </a:p>
          <a:p>
            <a:pPr marL="457200" lvl="0" indent="-31718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Why does the trajectory geometry look the way it does?</a:t>
            </a:r>
            <a:endParaRPr/>
          </a:p>
          <a:p>
            <a:pPr marL="457200" lvl="0" indent="-31718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What sort of features (specific token, position in sequence, DFA state) are easily read out of the neural representation?</a:t>
            </a:r>
            <a:endParaRPr/>
          </a:p>
          <a:p>
            <a:pPr marL="457200" lvl="0" indent="-31718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What sort of features do we see in single-neuron responses?</a:t>
            </a:r>
            <a:endParaRPr/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be addressed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3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6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61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AutoNum type="arabicPeriod"/>
            </a:pPr>
            <a:r>
              <a:rPr lang="en" sz="2100"/>
              <a:t>How is lexical information (word position, character, etc.) represented in a recurrent network that learns to produce words?</a:t>
            </a:r>
            <a:endParaRPr sz="2100"/>
          </a:p>
          <a:p>
            <a:pPr marL="45720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100"/>
          </a:p>
          <a:p>
            <a:pPr marL="457200" lvl="0" indent="-3619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2100"/>
              <a:buAutoNum type="arabicPeriod"/>
            </a:pPr>
            <a:r>
              <a:rPr lang="en" sz="2100"/>
              <a:t>How does network’s representation of information change with vocabulary complexity?</a:t>
            </a:r>
            <a:endParaRPr sz="2100"/>
          </a:p>
          <a:p>
            <a:pPr marL="45720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100"/>
          </a:p>
          <a:p>
            <a:pPr marL="457200" lvl="0" indent="-3619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2100"/>
              <a:buAutoNum type="arabicPeriod"/>
            </a:pPr>
            <a:r>
              <a:rPr lang="en" sz="2100"/>
              <a:t>How do the network’s </a:t>
            </a:r>
            <a:r>
              <a:rPr lang="en" sz="2100" i="1"/>
              <a:t>weights </a:t>
            </a:r>
            <a:r>
              <a:rPr lang="en" sz="2100"/>
              <a:t>differ as a function of the complexity of the learned vocabulary (function-&gt;structure).</a:t>
            </a:r>
            <a:endParaRPr sz="2100"/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1"/>
          <p:cNvSpPr txBox="1">
            <a:spLocks noGrp="1"/>
          </p:cNvSpPr>
          <p:nvPr>
            <p:ph type="title"/>
          </p:nvPr>
        </p:nvSpPr>
        <p:spPr>
          <a:xfrm>
            <a:off x="457200" y="1143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Statistical Learning and Language Acquisition</a:t>
            </a:r>
            <a:br>
              <a:rPr lang="en"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4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31"/>
          <p:cNvSpPr txBox="1">
            <a:spLocks noGrp="1"/>
          </p:cNvSpPr>
          <p:nvPr>
            <p:ph type="body" idx="1"/>
          </p:nvPr>
        </p:nvSpPr>
        <p:spPr>
          <a:xfrm>
            <a:off x="533400" y="571500"/>
            <a:ext cx="8229600" cy="38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342900" marR="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</a:pPr>
            <a:r>
              <a:rPr lang="en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Saffran, Newport, Aslin. Science (1996). “Statistical Learning By 8-Month-Old Infants.”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238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</a:pPr>
            <a:r>
              <a:rPr lang="en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do infants learn to segment  auditory information into individual words?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97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60000"/>
              <a:buFont typeface="Calibri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97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60000"/>
              <a:buFont typeface="Calibri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2000"/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2000"/>
          </a:p>
          <a:p>
            <a:pPr marL="0" marR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Font typeface="Calibri"/>
              <a:buNone/>
            </a:pPr>
            <a:r>
              <a:rPr lang="en" sz="10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Kuhl, P. K.</a:t>
            </a:r>
            <a:r>
              <a:rPr lang="en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(2004) Early language acquisition: cracking the speech code. </a:t>
            </a:r>
            <a:r>
              <a:rPr lang="en" sz="1000" b="0" i="1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Nature Reviews Neuroscience</a:t>
            </a:r>
            <a:r>
              <a:rPr lang="en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5(11):831--843.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7" name="Google Shape;167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0100" y="2446904"/>
            <a:ext cx="7696200" cy="17180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2"/>
          <p:cNvSpPr txBox="1">
            <a:spLocks noGrp="1"/>
          </p:cNvSpPr>
          <p:nvPr>
            <p:ph type="title"/>
          </p:nvPr>
        </p:nvSpPr>
        <p:spPr>
          <a:xfrm>
            <a:off x="310125" y="171450"/>
            <a:ext cx="8376600" cy="6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Statistical Language Segmentation: Saffran Experiment</a:t>
            </a:r>
            <a:endParaRPr sz="24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32"/>
          <p:cNvSpPr txBox="1">
            <a:spLocks noGrp="1"/>
          </p:cNvSpPr>
          <p:nvPr>
            <p:ph type="body" idx="1"/>
          </p:nvPr>
        </p:nvSpPr>
        <p:spPr>
          <a:xfrm>
            <a:off x="457200" y="971550"/>
            <a:ext cx="8229600" cy="26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Pseudo-words, like </a:t>
            </a:r>
            <a:r>
              <a:rPr lang="en" sz="1400" b="1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bupa</a:t>
            </a:r>
            <a:r>
              <a:rPr lang="en" sz="1400" b="1" i="1"/>
              <a:t>do</a:t>
            </a:r>
            <a:r>
              <a:rPr lang="en" sz="1400" b="1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</a:t>
            </a:r>
            <a:r>
              <a:rPr lang="en" sz="1400"/>
              <a:t> </a:t>
            </a:r>
            <a:r>
              <a:rPr lang="en" sz="1400" b="1" i="1"/>
              <a:t>ku</a:t>
            </a:r>
            <a:r>
              <a:rPr lang="en" sz="1400" b="1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taba</a:t>
            </a: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were randomly concatenated and presented to infa</a:t>
            </a:r>
            <a:r>
              <a:rPr lang="en" sz="1400"/>
              <a:t>nts </a:t>
            </a: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sequences such as: 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 b="1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bupad</a:t>
            </a:r>
            <a:r>
              <a:rPr lang="en" sz="3300" b="1" i="1"/>
              <a:t>oku</a:t>
            </a:r>
            <a:r>
              <a:rPr lang="en" sz="3300" b="1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taba</a:t>
            </a:r>
            <a:r>
              <a:rPr lang="en" sz="3300" b="1" i="1"/>
              <a:t>ku</a:t>
            </a:r>
            <a:r>
              <a:rPr lang="en" sz="3300" b="1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tababupa</a:t>
            </a:r>
            <a:r>
              <a:rPr lang="en" sz="3300" b="1" i="1"/>
              <a:t>do</a:t>
            </a:r>
            <a:r>
              <a:rPr lang="en" sz="3300" b="1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bupa</a:t>
            </a:r>
            <a:r>
              <a:rPr lang="en" sz="3300" b="1" i="1"/>
              <a:t>doku</a:t>
            </a:r>
            <a:r>
              <a:rPr lang="en" sz="3300" b="1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taba </a:t>
            </a:r>
            <a:endParaRPr sz="3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/>
          </a:p>
          <a:p>
            <a:pPr marL="342900" marR="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a probing session, infants demonstrated a greater familiarity with the “words”, </a:t>
            </a:r>
            <a:r>
              <a:rPr lang="en" sz="1400" b="0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bupa</a:t>
            </a:r>
            <a:r>
              <a:rPr lang="en" sz="1400" i="1"/>
              <a:t>do</a:t>
            </a:r>
            <a:r>
              <a:rPr lang="en" sz="1400" b="0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" sz="1400" i="1"/>
              <a:t>ku</a:t>
            </a:r>
            <a:r>
              <a:rPr lang="en" sz="1400" b="0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taba, </a:t>
            </a: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</a:t>
            </a:r>
            <a:r>
              <a:rPr lang="en" sz="1400"/>
              <a:t>a</a:t>
            </a: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 they did with non-words that crossed word boun</a:t>
            </a:r>
            <a:r>
              <a:rPr lang="en" sz="1400"/>
              <a:t>da</a:t>
            </a: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ries, like </a:t>
            </a:r>
            <a:r>
              <a:rPr lang="en" sz="1400" b="0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</a:t>
            </a:r>
            <a:r>
              <a:rPr lang="en" sz="1400" i="1"/>
              <a:t>doku</a:t>
            </a:r>
            <a:endParaRPr sz="14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400" i="1"/>
          </a:p>
          <a:p>
            <a:pPr marL="342900" marR="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Conclusion: transitional probabilities between syllables allow infants to segment speech into indivi</a:t>
            </a:r>
            <a:r>
              <a:rPr lang="en" sz="1400"/>
              <a:t>du</a:t>
            </a: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 words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97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4000"/>
              <a:t>bu pa do ku ta ba</a:t>
            </a:r>
            <a:endParaRPr sz="4000"/>
          </a:p>
          <a:p>
            <a:pPr marL="342900" lvl="0" indent="-1397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endParaRPr sz="4000"/>
          </a:p>
          <a:p>
            <a:pPr marL="342900" marR="0" lvl="0" indent="-1397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endParaRPr sz="2400"/>
          </a:p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4000"/>
          </a:p>
          <a:p>
            <a:pPr marL="342900" marR="0" lvl="0" indent="-1397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endParaRPr sz="4000"/>
          </a:p>
        </p:txBody>
      </p:sp>
      <p:grpSp>
        <p:nvGrpSpPr>
          <p:cNvPr id="174" name="Google Shape;174;p32"/>
          <p:cNvGrpSpPr/>
          <p:nvPr/>
        </p:nvGrpSpPr>
        <p:grpSpPr>
          <a:xfrm>
            <a:off x="3105075" y="3797980"/>
            <a:ext cx="2933850" cy="380408"/>
            <a:chOff x="3105075" y="3584430"/>
            <a:chExt cx="2933850" cy="380408"/>
          </a:xfrm>
        </p:grpSpPr>
        <p:sp>
          <p:nvSpPr>
            <p:cNvPr id="175" name="Google Shape;175;p32"/>
            <p:cNvSpPr/>
            <p:nvPr/>
          </p:nvSpPr>
          <p:spPr>
            <a:xfrm>
              <a:off x="3686100" y="3850538"/>
              <a:ext cx="381000" cy="114300"/>
            </a:xfrm>
            <a:prstGeom prst="curvedDown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chemeClr val="accent1"/>
            </a:solidFill>
            <a:ln w="25400" cap="flat" cmpd="sng">
              <a:solidFill>
                <a:srgbClr val="395E8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32"/>
            <p:cNvSpPr/>
            <p:nvPr/>
          </p:nvSpPr>
          <p:spPr>
            <a:xfrm>
              <a:off x="4371900" y="3836250"/>
              <a:ext cx="381000" cy="114300"/>
            </a:xfrm>
            <a:prstGeom prst="curvedDown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chemeClr val="accent1"/>
            </a:solidFill>
            <a:ln w="25400" cap="flat" cmpd="sng">
              <a:solidFill>
                <a:srgbClr val="395E8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32"/>
            <p:cNvSpPr/>
            <p:nvPr/>
          </p:nvSpPr>
          <p:spPr>
            <a:xfrm>
              <a:off x="5019600" y="3843394"/>
              <a:ext cx="381000" cy="114300"/>
            </a:xfrm>
            <a:prstGeom prst="curvedDown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chemeClr val="accent1"/>
            </a:solidFill>
            <a:ln w="25400" cap="flat" cmpd="sng">
              <a:solidFill>
                <a:srgbClr val="395E8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32"/>
            <p:cNvSpPr/>
            <p:nvPr/>
          </p:nvSpPr>
          <p:spPr>
            <a:xfrm>
              <a:off x="5591100" y="3843394"/>
              <a:ext cx="381000" cy="114300"/>
            </a:xfrm>
            <a:prstGeom prst="curvedDown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chemeClr val="accent1"/>
            </a:solidFill>
            <a:ln w="25400" cap="flat" cmpd="sng">
              <a:solidFill>
                <a:srgbClr val="395E8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32"/>
            <p:cNvSpPr txBox="1"/>
            <p:nvPr/>
          </p:nvSpPr>
          <p:spPr>
            <a:xfrm>
              <a:off x="3105075" y="3608095"/>
              <a:ext cx="514500" cy="230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1.0</a:t>
              </a: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80" name="Google Shape;180;p32"/>
            <p:cNvGrpSpPr/>
            <p:nvPr/>
          </p:nvGrpSpPr>
          <p:grpSpPr>
            <a:xfrm>
              <a:off x="3152700" y="3584430"/>
              <a:ext cx="2886225" cy="380408"/>
              <a:chOff x="3152700" y="3584430"/>
              <a:chExt cx="2886225" cy="380408"/>
            </a:xfrm>
          </p:grpSpPr>
          <p:sp>
            <p:nvSpPr>
              <p:cNvPr id="181" name="Google Shape;181;p32"/>
              <p:cNvSpPr/>
              <p:nvPr/>
            </p:nvSpPr>
            <p:spPr>
              <a:xfrm>
                <a:off x="3152700" y="3850538"/>
                <a:ext cx="381000" cy="114300"/>
              </a:xfrm>
              <a:prstGeom prst="curvedDownArrow">
                <a:avLst>
                  <a:gd name="adj1" fmla="val 25000"/>
                  <a:gd name="adj2" fmla="val 50000"/>
                  <a:gd name="adj3" fmla="val 25000"/>
                </a:avLst>
              </a:prstGeom>
              <a:solidFill>
                <a:schemeClr val="accent1"/>
              </a:solidFill>
              <a:ln w="25400" cap="flat" cmpd="sng">
                <a:solidFill>
                  <a:srgbClr val="395E8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Google Shape;182;p32"/>
              <p:cNvSpPr txBox="1"/>
              <p:nvPr/>
            </p:nvSpPr>
            <p:spPr>
              <a:xfrm>
                <a:off x="3686100" y="3605417"/>
                <a:ext cx="5145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4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1.0</a:t>
                </a: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3" name="Google Shape;183;p32"/>
              <p:cNvSpPr txBox="1"/>
              <p:nvPr/>
            </p:nvSpPr>
            <p:spPr>
              <a:xfrm>
                <a:off x="4952925" y="3584430"/>
                <a:ext cx="5145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4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1.0</a:t>
                </a: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4" name="Google Shape;184;p32"/>
              <p:cNvSpPr txBox="1"/>
              <p:nvPr/>
            </p:nvSpPr>
            <p:spPr>
              <a:xfrm>
                <a:off x="5524425" y="3589341"/>
                <a:ext cx="5145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4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1.0</a:t>
                </a: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5" name="Google Shape;185;p32"/>
              <p:cNvSpPr txBox="1"/>
              <p:nvPr/>
            </p:nvSpPr>
            <p:spPr>
              <a:xfrm>
                <a:off x="4305225" y="3605417"/>
                <a:ext cx="5145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4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0.5</a:t>
                </a: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3"/>
          <p:cNvSpPr txBox="1">
            <a:spLocks noGrp="1"/>
          </p:cNvSpPr>
          <p:nvPr>
            <p:ph type="title"/>
          </p:nvPr>
        </p:nvSpPr>
        <p:spPr>
          <a:xfrm>
            <a:off x="421900" y="111803"/>
            <a:ext cx="8229600" cy="85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Vocabularies for statistical learning</a:t>
            </a:r>
            <a:endParaRPr sz="3600"/>
          </a:p>
        </p:txBody>
      </p:sp>
      <p:pic>
        <p:nvPicPr>
          <p:cNvPr id="191" name="Google Shape;191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58500" y="969203"/>
            <a:ext cx="5827008" cy="3869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4"/>
          <p:cNvSpPr txBox="1">
            <a:spLocks noGrp="1"/>
          </p:cNvSpPr>
          <p:nvPr>
            <p:ph type="title"/>
          </p:nvPr>
        </p:nvSpPr>
        <p:spPr>
          <a:xfrm>
            <a:off x="457200" y="70643"/>
            <a:ext cx="8229600" cy="85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Training an RNN</a:t>
            </a:r>
            <a:endParaRPr/>
          </a:p>
        </p:txBody>
      </p:sp>
      <p:pic>
        <p:nvPicPr>
          <p:cNvPr id="197" name="Google Shape;197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8788" y="1033358"/>
            <a:ext cx="8246435" cy="37753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5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Evaluation</a:t>
            </a:r>
            <a:endParaRPr/>
          </a:p>
        </p:txBody>
      </p:sp>
      <p:pic>
        <p:nvPicPr>
          <p:cNvPr id="203" name="Google Shape;203;p35"/>
          <p:cNvPicPr preferRelativeResize="0"/>
          <p:nvPr/>
        </p:nvPicPr>
        <p:blipFill rotWithShape="1">
          <a:blip r:embed="rId3">
            <a:alphaModFix/>
          </a:blip>
          <a:srcRect t="19711"/>
          <a:stretch/>
        </p:blipFill>
        <p:spPr>
          <a:xfrm>
            <a:off x="175950" y="1335050"/>
            <a:ext cx="8839200" cy="302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/>
            </a:pPr>
            <a:r>
              <a:rPr dirty="0"/>
              <a:t>Minimal DFAs for three small vocabularies</a:t>
            </a:r>
          </a:p>
        </p:txBody>
      </p:sp>
      <p:pic>
        <p:nvPicPr>
          <p:cNvPr id="3" name="Picture 2" descr="fig_dfa_examples.jpg"/>
          <p:cNvPicPr>
            <a:picLocks noChangeAspect="1"/>
          </p:cNvPicPr>
          <p:nvPr/>
        </p:nvPicPr>
        <p:blipFill>
          <a:blip r:embed="rId2"/>
          <a:srcRect t="16930"/>
          <a:stretch>
            <a:fillRect/>
          </a:stretch>
        </p:blipFill>
        <p:spPr>
          <a:xfrm>
            <a:off x="537119" y="981307"/>
            <a:ext cx="7320448" cy="292905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FEBE17B-CF29-FC58-0819-46A3CE9347B5}"/>
              </a:ext>
            </a:extLst>
          </p:cNvPr>
          <p:cNvSpPr txBox="1"/>
          <p:nvPr/>
        </p:nvSpPr>
        <p:spPr>
          <a:xfrm>
            <a:off x="2427248" y="4250916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 DFA state groups prefixes that behave the same for every possible continuation.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Demo vocabulary and training stream</a:t>
            </a:r>
          </a:p>
        </p:txBody>
      </p:sp>
      <p:pic>
        <p:nvPicPr>
          <p:cNvPr id="3" name="Picture 2" descr="fig04_corpus_st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97901"/>
            <a:ext cx="8778240" cy="281635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Learning curve and generation</a:t>
            </a:r>
          </a:p>
        </p:txBody>
      </p:sp>
      <p:pic>
        <p:nvPicPr>
          <p:cNvPr id="3" name="Picture 2" descr="fig03_learning_with_samp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84952"/>
            <a:ext cx="8778240" cy="26422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Next-character probabilities</a:t>
            </a:r>
          </a:p>
        </p:txBody>
      </p:sp>
      <p:pic>
        <p:nvPicPr>
          <p:cNvPr id="3" name="Picture 2" descr="fig_next_char_pro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379" y="822960"/>
            <a:ext cx="8571240" cy="416623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Activation heatmap</a:t>
            </a:r>
          </a:p>
        </p:txBody>
      </p:sp>
      <p:pic>
        <p:nvPicPr>
          <p:cNvPr id="3" name="Picture 2" descr="fig_activation_heat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822960"/>
            <a:ext cx="6172200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Activations clustered by prefix</a:t>
            </a:r>
          </a:p>
        </p:txBody>
      </p:sp>
      <p:pic>
        <p:nvPicPr>
          <p:cNvPr id="3" name="Picture 2" descr="fig_activation_cluster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49479"/>
            <a:ext cx="8778240" cy="371319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Hidden-state correlation</a:t>
            </a:r>
          </a:p>
        </p:txBody>
      </p:sp>
      <p:pic>
        <p:nvPicPr>
          <p:cNvPr id="3" name="Picture 2" descr="fig_state_correl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055" y="822960"/>
            <a:ext cx="5481888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DFA PCA geometry and feature separation</a:t>
            </a:r>
          </a:p>
        </p:txBody>
      </p:sp>
      <p:pic>
        <p:nvPicPr>
          <p:cNvPr id="3" name="Picture 2" descr="fig_dfa_pca_geomet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7050" y="822960"/>
            <a:ext cx="4309898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Example selective units</a:t>
            </a:r>
          </a:p>
        </p:txBody>
      </p:sp>
      <p:pic>
        <p:nvPicPr>
          <p:cNvPr id="3" name="Picture 2" descr="fig_example_uni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9555" y="822960"/>
            <a:ext cx="6144889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Linear decoding with word identity</a:t>
            </a:r>
          </a:p>
        </p:txBody>
      </p:sp>
      <p:pic>
        <p:nvPicPr>
          <p:cNvPr id="3" name="Picture 2" descr="fig_decoding_with_w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655178"/>
            <a:ext cx="8778240" cy="25017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DFA states and trajectories across seeds</a:t>
            </a:r>
          </a:p>
        </p:txBody>
      </p:sp>
      <p:pic>
        <p:nvPicPr>
          <p:cNvPr id="3" name="Picture 2" descr="fig_word_trajectori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2296"/>
            <a:ext cx="8778240" cy="380756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Mixed-vocab scaling overview</a:t>
            </a:r>
          </a:p>
        </p:txBody>
      </p:sp>
      <p:pic>
        <p:nvPicPr>
          <p:cNvPr id="3" name="Picture 2" descr="fig_mixed_scaling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01236"/>
            <a:ext cx="8778240" cy="300968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Activation heatmaps across DFA size</a:t>
            </a:r>
          </a:p>
        </p:txBody>
      </p:sp>
      <p:pic>
        <p:nvPicPr>
          <p:cNvPr id="3" name="Picture 2" descr="fig_activation_heatmaps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409" y="822960"/>
            <a:ext cx="6101180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Closed-loop trajectories by DFA span</a:t>
            </a:r>
          </a:p>
        </p:txBody>
      </p:sp>
      <p:pic>
        <p:nvPicPr>
          <p:cNvPr id="3" name="Picture 2" descr="fig_mixed_traj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186" y="822960"/>
            <a:ext cx="4087626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Readout curves and learning</a:t>
            </a:r>
          </a:p>
        </p:txBody>
      </p:sp>
      <p:pic>
        <p:nvPicPr>
          <p:cNvPr id="3" name="Picture 2" descr="fig_mixed_decoding_curv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410" y="822960"/>
            <a:ext cx="4121178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Within-feature geometry and unit selectivity</a:t>
            </a:r>
          </a:p>
        </p:txBody>
      </p:sp>
      <p:pic>
        <p:nvPicPr>
          <p:cNvPr id="3" name="Picture 2" descr="fig_mixed_cosine_with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4" y="822960"/>
            <a:ext cx="8209330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Readout vs DFA at fixed PCs</a:t>
            </a:r>
          </a:p>
        </p:txBody>
      </p:sp>
      <p:pic>
        <p:nvPicPr>
          <p:cNvPr id="3" name="Picture 2" descr="fig_mixed_decoding_vs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646" y="822960"/>
            <a:ext cx="8076707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Weight matrices by DFA size</a:t>
            </a:r>
          </a:p>
        </p:txBody>
      </p:sp>
      <p:pic>
        <p:nvPicPr>
          <p:cNvPr id="3" name="Picture 2" descr="fig_weight_matrices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124" y="822960"/>
            <a:ext cx="6271751" cy="416623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Weight graph structure and motifs vs DFA</a:t>
            </a:r>
          </a:p>
        </p:txBody>
      </p:sp>
      <p:pic>
        <p:nvPicPr>
          <p:cNvPr id="3" name="Picture 2" descr="fig_weight_graph_motifs_vs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775" y="822960"/>
            <a:ext cx="3600450" cy="41662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584</Words>
  <Application>Microsoft Office PowerPoint</Application>
  <PresentationFormat>On-screen Show (16:9)</PresentationFormat>
  <Paragraphs>73</Paragraphs>
  <Slides>29</Slides>
  <Notes>10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Simple Light</vt:lpstr>
      <vt:lpstr>Office Theme</vt:lpstr>
      <vt:lpstr>Recurrent networks trained on statistical learning tasks reveal principles of neural sequence representation</vt:lpstr>
      <vt:lpstr>The big picture</vt:lpstr>
      <vt:lpstr>Assumptions</vt:lpstr>
      <vt:lpstr>Specific questions to be addressed </vt:lpstr>
      <vt:lpstr>Questions be addressed </vt:lpstr>
      <vt:lpstr>Statistical Learning and Language Acquisition </vt:lpstr>
      <vt:lpstr>Statistical Language Segmentation: Saffran Experiment</vt:lpstr>
      <vt:lpstr>Vocabularies for statistical learning</vt:lpstr>
      <vt:lpstr>Training an RNN</vt:lpstr>
      <vt:lpstr>Evaluation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Toviah Moldwin</cp:lastModifiedBy>
  <cp:revision>1</cp:revision>
  <dcterms:modified xsi:type="dcterms:W3CDTF">2026-07-29T07:49:28Z</dcterms:modified>
</cp:coreProperties>
</file>