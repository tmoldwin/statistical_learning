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  <p:sldMasterId id="214748367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f1fc49350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f1fc49350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f1fc49350a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f1fc49350a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f1fc49350a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f1fc49350a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f3c96c856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f3c96c856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f1fc49350a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g3f1fc49350a_0_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f1fc49350a_0_3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g3f1fc49350a_0_3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f1fc49350a_0_4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f1fc49350a_0_4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f4272c5c7e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f4272c5c7e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f4272c5c7e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3f4272c5c7e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•"/>
              <a:defRPr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–"/>
              <a:def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–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»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Font typeface="Calibri"/>
              <a:buChar char="•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457200" marR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8900" lvl="2" marL="914400" marR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8900" lvl="3" marL="1371600" marR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8900" lvl="4" marL="1828800" marR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8900" lvl="5" marL="2286000" marR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8900" lvl="6" marL="2743200" marR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8900" lvl="7" marL="3200400" marR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8900" lvl="8" marL="3657600" marR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457200" marR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8900" lvl="2" marL="914400" marR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8900" lvl="3" marL="1371600" marR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8900" lvl="4" marL="1828800" marR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8900" lvl="5" marL="2286000" marR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8900" lvl="6" marL="2743200" marR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8900" lvl="7" marL="3200400" marR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8900" lvl="8" marL="3657600" marR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25000" lnSpcReduction="20000"/>
          </a:bodyPr>
          <a:lstStyle>
            <a:lvl1pPr indent="0" lvl="0" marL="0" marR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-22225" lvl="0" marL="0" rtl="0" algn="r">
              <a:spcBef>
                <a:spcPts val="0"/>
              </a:spcBef>
              <a:spcAft>
                <a:spcPts val="0"/>
              </a:spcAft>
              <a:buSzPct val="116667"/>
              <a:buChar char="●"/>
            </a:pPr>
            <a:r>
              <a:t/>
            </a:r>
            <a:endParaRPr/>
          </a:p>
          <a:p>
            <a:pPr indent="-22225" lvl="1" marL="457200" rtl="0" algn="l">
              <a:spcBef>
                <a:spcPts val="0"/>
              </a:spcBef>
              <a:spcAft>
                <a:spcPts val="0"/>
              </a:spcAft>
              <a:buSzPct val="77778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22225" lvl="2" marL="914400" rtl="0" algn="l">
              <a:spcBef>
                <a:spcPts val="0"/>
              </a:spcBef>
              <a:spcAft>
                <a:spcPts val="0"/>
              </a:spcAft>
              <a:buSzPct val="77778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22225" lvl="3" marL="1371600" rtl="0" algn="l">
              <a:spcBef>
                <a:spcPts val="0"/>
              </a:spcBef>
              <a:spcAft>
                <a:spcPts val="0"/>
              </a:spcAft>
              <a:buSzPct val="77778"/>
              <a:buChar char="●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22225" lvl="4" marL="1828800" rtl="0" algn="l">
              <a:spcBef>
                <a:spcPts val="0"/>
              </a:spcBef>
              <a:spcAft>
                <a:spcPts val="0"/>
              </a:spcAft>
              <a:buSzPct val="77778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22225" lvl="5" marL="2286000" rtl="0" algn="l">
              <a:spcBef>
                <a:spcPts val="0"/>
              </a:spcBef>
              <a:spcAft>
                <a:spcPts val="0"/>
              </a:spcAft>
              <a:buSzPct val="77778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22225" lvl="6" marL="2743200" rtl="0" algn="l">
              <a:spcBef>
                <a:spcPts val="0"/>
              </a:spcBef>
              <a:spcAft>
                <a:spcPts val="0"/>
              </a:spcAft>
              <a:buSzPct val="77778"/>
              <a:buChar char="●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22225" lvl="7" marL="3200400" rtl="0" algn="l">
              <a:spcBef>
                <a:spcPts val="0"/>
              </a:spcBef>
              <a:spcAft>
                <a:spcPts val="0"/>
              </a:spcAft>
              <a:buSzPct val="77778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22225" lvl="8" marL="3657600" rtl="0" algn="l">
              <a:spcBef>
                <a:spcPts val="0"/>
              </a:spcBef>
              <a:spcAft>
                <a:spcPts val="0"/>
              </a:spcAft>
              <a:buSzPct val="77778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/>
          <p:nvPr>
            <p:ph type="ctrTitle"/>
          </p:nvPr>
        </p:nvSpPr>
        <p:spPr>
          <a:xfrm>
            <a:off x="685800" y="1597819"/>
            <a:ext cx="7772400" cy="110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0" marR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0" marR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0" marR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0" marR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0" marR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0" marR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0" marR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0" marR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" type="subTitle"/>
          </p:nvPr>
        </p:nvSpPr>
        <p:spPr>
          <a:xfrm>
            <a:off x="1371600" y="2914650"/>
            <a:ext cx="6400800" cy="13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b="0" i="0" sz="3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b="0" i="0" sz="2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5" name="Google Shape;65;p15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457200" marR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8900" lvl="2" marL="914400" marR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8900" lvl="3" marL="1371600" marR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8900" lvl="4" marL="1828800" marR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8900" lvl="5" marL="2286000" marR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8900" lvl="6" marL="2743200" marR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8900" lvl="7" marL="3200400" marR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8900" lvl="8" marL="3657600" marR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6" name="Google Shape;66;p15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457200" marR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8900" lvl="2" marL="914400" marR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8900" lvl="3" marL="1371600" marR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8900" lvl="4" marL="1828800" marR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8900" lvl="5" marL="2286000" marR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8900" lvl="6" marL="2743200" marR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8900" lvl="7" marL="3200400" marR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8900" lvl="8" marL="3657600" marR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7" name="Google Shape;67;p15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-88900" lvl="0" marL="0" rtl="0" algn="r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1" marL="4572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2" marL="9144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3" marL="13716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4" marL="18288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5" marL="22860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6" marL="2743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7" marL="3200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8" marL="3657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" type="body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–"/>
              <a:def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–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»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1" name="Google Shape;71;p16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457200" marR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8900" lvl="2" marL="914400" marR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8900" lvl="3" marL="1371600" marR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8900" lvl="4" marL="1828800" marR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8900" lvl="5" marL="2286000" marR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8900" lvl="6" marL="2743200" marR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8900" lvl="7" marL="3200400" marR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8900" lvl="8" marL="3657600" marR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2" name="Google Shape;72;p16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457200" marR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8900" lvl="2" marL="914400" marR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8900" lvl="3" marL="1371600" marR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8900" lvl="4" marL="1828800" marR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8900" lvl="5" marL="2286000" marR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8900" lvl="6" marL="2743200" marR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8900" lvl="7" marL="3200400" marR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8900" lvl="8" marL="3657600" marR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3" name="Google Shape;73;p16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-88900" lvl="0" marL="0" rtl="0" algn="r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1" marL="4572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2" marL="9144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3" marL="13716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4" marL="18288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5" marL="22860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6" marL="2743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7" marL="3200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8" marL="3657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/>
          <p:nvPr>
            <p:ph type="title"/>
          </p:nvPr>
        </p:nvSpPr>
        <p:spPr>
          <a:xfrm>
            <a:off x="722313" y="3305175"/>
            <a:ext cx="7772400" cy="102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small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" type="body"/>
          </p:nvPr>
        </p:nvSpPr>
        <p:spPr>
          <a:xfrm>
            <a:off x="722313" y="2180035"/>
            <a:ext cx="7772400" cy="1125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7" name="Google Shape;77;p17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457200" marR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8900" lvl="2" marL="914400" marR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8900" lvl="3" marL="1371600" marR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8900" lvl="4" marL="1828800" marR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8900" lvl="5" marL="2286000" marR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8900" lvl="6" marL="2743200" marR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8900" lvl="7" marL="3200400" marR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8900" lvl="8" marL="3657600" marR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8" name="Google Shape;78;p17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457200" marR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8900" lvl="2" marL="914400" marR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8900" lvl="3" marL="1371600" marR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8900" lvl="4" marL="1828800" marR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8900" lvl="5" marL="2286000" marR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8900" lvl="6" marL="2743200" marR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8900" lvl="7" marL="3200400" marR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8900" lvl="8" marL="3657600" marR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9" name="Google Shape;79;p17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-88900" lvl="0" marL="0" rtl="0" algn="r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1" marL="4572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2" marL="9144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3" marL="13716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4" marL="18288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5" marL="22860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6" marL="2743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7" marL="3200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8" marL="3657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8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2" name="Google Shape;82;p18"/>
          <p:cNvSpPr txBox="1"/>
          <p:nvPr>
            <p:ph idx="1" type="body"/>
          </p:nvPr>
        </p:nvSpPr>
        <p:spPr>
          <a:xfrm>
            <a:off x="457200" y="1200150"/>
            <a:ext cx="4038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640"/>
              </a:spcBef>
              <a:spcAft>
                <a:spcPts val="0"/>
              </a:spcAft>
              <a:buSzPts val="1400"/>
              <a:buChar char="•"/>
              <a:defRPr sz="2800"/>
            </a:lvl1pPr>
            <a:lvl2pPr indent="-317500" lvl="1" marL="914400">
              <a:spcBef>
                <a:spcPts val="560"/>
              </a:spcBef>
              <a:spcAft>
                <a:spcPts val="0"/>
              </a:spcAft>
              <a:buSzPts val="1400"/>
              <a:buChar char="–"/>
              <a:defRPr sz="2400"/>
            </a:lvl2pPr>
            <a:lvl3pPr indent="-317500" lvl="2" marL="1371600">
              <a:spcBef>
                <a:spcPts val="480"/>
              </a:spcBef>
              <a:spcAft>
                <a:spcPts val="0"/>
              </a:spcAft>
              <a:buSzPts val="1400"/>
              <a:buChar char="•"/>
              <a:defRPr sz="2000"/>
            </a:lvl3pPr>
            <a:lvl4pPr indent="-317500" lvl="3" marL="1828800">
              <a:spcBef>
                <a:spcPts val="400"/>
              </a:spcBef>
              <a:spcAft>
                <a:spcPts val="0"/>
              </a:spcAft>
              <a:buSzPts val="1400"/>
              <a:buChar char="–"/>
              <a:defRPr sz="1800"/>
            </a:lvl4pPr>
            <a:lvl5pPr indent="-317500" lvl="4" marL="2286000">
              <a:spcBef>
                <a:spcPts val="400"/>
              </a:spcBef>
              <a:spcAft>
                <a:spcPts val="0"/>
              </a:spcAft>
              <a:buSzPts val="1400"/>
              <a:buChar char="»"/>
              <a:defRPr sz="1800"/>
            </a:lvl5pPr>
            <a:lvl6pPr indent="-317500" lvl="5" marL="2743200"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1800"/>
            </a:lvl6pPr>
            <a:lvl7pPr indent="-317500" lvl="6" marL="3200400"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1800"/>
            </a:lvl7pPr>
            <a:lvl8pPr indent="-317500" lvl="7" marL="3657600"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1800"/>
            </a:lvl8pPr>
            <a:lvl9pPr indent="-317500" lvl="8" marL="4114800"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1800"/>
            </a:lvl9pPr>
          </a:lstStyle>
          <a:p/>
        </p:txBody>
      </p:sp>
      <p:sp>
        <p:nvSpPr>
          <p:cNvPr id="83" name="Google Shape;83;p18"/>
          <p:cNvSpPr txBox="1"/>
          <p:nvPr>
            <p:ph idx="2" type="body"/>
          </p:nvPr>
        </p:nvSpPr>
        <p:spPr>
          <a:xfrm>
            <a:off x="4648200" y="1200150"/>
            <a:ext cx="4038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640"/>
              </a:spcBef>
              <a:spcAft>
                <a:spcPts val="0"/>
              </a:spcAft>
              <a:buSzPts val="1400"/>
              <a:buChar char="•"/>
              <a:defRPr sz="2800"/>
            </a:lvl1pPr>
            <a:lvl2pPr indent="-317500" lvl="1" marL="914400">
              <a:spcBef>
                <a:spcPts val="560"/>
              </a:spcBef>
              <a:spcAft>
                <a:spcPts val="0"/>
              </a:spcAft>
              <a:buSzPts val="1400"/>
              <a:buChar char="–"/>
              <a:defRPr sz="2400"/>
            </a:lvl2pPr>
            <a:lvl3pPr indent="-317500" lvl="2" marL="1371600">
              <a:spcBef>
                <a:spcPts val="480"/>
              </a:spcBef>
              <a:spcAft>
                <a:spcPts val="0"/>
              </a:spcAft>
              <a:buSzPts val="1400"/>
              <a:buChar char="•"/>
              <a:defRPr sz="2000"/>
            </a:lvl3pPr>
            <a:lvl4pPr indent="-317500" lvl="3" marL="1828800">
              <a:spcBef>
                <a:spcPts val="400"/>
              </a:spcBef>
              <a:spcAft>
                <a:spcPts val="0"/>
              </a:spcAft>
              <a:buSzPts val="1400"/>
              <a:buChar char="–"/>
              <a:defRPr sz="1800"/>
            </a:lvl4pPr>
            <a:lvl5pPr indent="-317500" lvl="4" marL="2286000">
              <a:spcBef>
                <a:spcPts val="400"/>
              </a:spcBef>
              <a:spcAft>
                <a:spcPts val="0"/>
              </a:spcAft>
              <a:buSzPts val="1400"/>
              <a:buChar char="»"/>
              <a:defRPr sz="1800"/>
            </a:lvl5pPr>
            <a:lvl6pPr indent="-317500" lvl="5" marL="2743200"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1800"/>
            </a:lvl6pPr>
            <a:lvl7pPr indent="-317500" lvl="6" marL="3200400"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1800"/>
            </a:lvl7pPr>
            <a:lvl8pPr indent="-317500" lvl="7" marL="3657600"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1800"/>
            </a:lvl8pPr>
            <a:lvl9pPr indent="-317500" lvl="8" marL="4114800"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1800"/>
            </a:lvl9pPr>
          </a:lstStyle>
          <a:p/>
        </p:txBody>
      </p:sp>
      <p:sp>
        <p:nvSpPr>
          <p:cNvPr id="84" name="Google Shape;84;p18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457200" marR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8900" lvl="2" marL="914400" marR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8900" lvl="3" marL="1371600" marR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8900" lvl="4" marL="1828800" marR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8900" lvl="5" marL="2286000" marR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8900" lvl="6" marL="2743200" marR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8900" lvl="7" marL="3200400" marR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8900" lvl="8" marL="3657600" marR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5" name="Google Shape;85;p18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457200" marR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8900" lvl="2" marL="914400" marR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8900" lvl="3" marL="1371600" marR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8900" lvl="4" marL="1828800" marR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8900" lvl="5" marL="2286000" marR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8900" lvl="6" marL="2743200" marR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8900" lvl="7" marL="3200400" marR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8900" lvl="8" marL="3657600" marR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6" name="Google Shape;86;p18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-88900" lvl="0" marL="0" rtl="0" algn="r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1" marL="4572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2" marL="9144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3" marL="13716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4" marL="18288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5" marL="22860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6" marL="2743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7" marL="3200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8" marL="3657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9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9" name="Google Shape;89;p19"/>
          <p:cNvSpPr txBox="1"/>
          <p:nvPr>
            <p:ph idx="1" type="body"/>
          </p:nvPr>
        </p:nvSpPr>
        <p:spPr>
          <a:xfrm>
            <a:off x="457200" y="1151335"/>
            <a:ext cx="4040100" cy="479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640"/>
              </a:spcBef>
              <a:spcAft>
                <a:spcPts val="0"/>
              </a:spcAft>
              <a:buSzPts val="1400"/>
              <a:buFont typeface="Calibri"/>
              <a:buNone/>
              <a:defRPr b="1" sz="2400"/>
            </a:lvl1pPr>
            <a:lvl2pPr indent="-228600" lvl="1" marL="914400">
              <a:spcBef>
                <a:spcPts val="560"/>
              </a:spcBef>
              <a:spcAft>
                <a:spcPts val="0"/>
              </a:spcAft>
              <a:buSzPts val="1400"/>
              <a:buFont typeface="Calibri"/>
              <a:buNone/>
              <a:defRPr b="1" sz="2000"/>
            </a:lvl2pPr>
            <a:lvl3pPr indent="-228600" lvl="2" marL="1371600">
              <a:spcBef>
                <a:spcPts val="480"/>
              </a:spcBef>
              <a:spcAft>
                <a:spcPts val="0"/>
              </a:spcAft>
              <a:buSzPts val="1400"/>
              <a:buFont typeface="Calibri"/>
              <a:buNone/>
              <a:defRPr b="1" sz="1800"/>
            </a:lvl3pPr>
            <a:lvl4pPr indent="-228600" lvl="3" marL="182880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 b="1" sz="1600"/>
            </a:lvl4pPr>
            <a:lvl5pPr indent="-228600" lvl="4" marL="228600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 b="1" sz="1600"/>
            </a:lvl5pPr>
            <a:lvl6pPr indent="-228600" lvl="5" marL="274320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 b="1" sz="1600"/>
            </a:lvl6pPr>
            <a:lvl7pPr indent="-228600" lvl="6" marL="320040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 b="1" sz="1600"/>
            </a:lvl7pPr>
            <a:lvl8pPr indent="-228600" lvl="7" marL="365760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 b="1" sz="1600"/>
            </a:lvl8pPr>
            <a:lvl9pPr indent="-228600" lvl="8" marL="411480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 b="1" sz="1600"/>
            </a:lvl9pPr>
          </a:lstStyle>
          <a:p/>
        </p:txBody>
      </p:sp>
      <p:sp>
        <p:nvSpPr>
          <p:cNvPr id="90" name="Google Shape;90;p19"/>
          <p:cNvSpPr txBox="1"/>
          <p:nvPr>
            <p:ph idx="2" type="body"/>
          </p:nvPr>
        </p:nvSpPr>
        <p:spPr>
          <a:xfrm>
            <a:off x="457200" y="1631156"/>
            <a:ext cx="4040100" cy="29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640"/>
              </a:spcBef>
              <a:spcAft>
                <a:spcPts val="0"/>
              </a:spcAft>
              <a:buSzPts val="1400"/>
              <a:buChar char="•"/>
              <a:defRPr sz="2400"/>
            </a:lvl1pPr>
            <a:lvl2pPr indent="-317500" lvl="1" marL="914400">
              <a:spcBef>
                <a:spcPts val="560"/>
              </a:spcBef>
              <a:spcAft>
                <a:spcPts val="0"/>
              </a:spcAft>
              <a:buSzPts val="1400"/>
              <a:buChar char="–"/>
              <a:defRPr sz="2000"/>
            </a:lvl2pPr>
            <a:lvl3pPr indent="-317500" lvl="2" marL="1371600">
              <a:spcBef>
                <a:spcPts val="480"/>
              </a:spcBef>
              <a:spcAft>
                <a:spcPts val="0"/>
              </a:spcAft>
              <a:buSzPts val="1400"/>
              <a:buChar char="•"/>
              <a:defRPr sz="1800"/>
            </a:lvl3pPr>
            <a:lvl4pPr indent="-317500" lvl="3" marL="1828800">
              <a:spcBef>
                <a:spcPts val="400"/>
              </a:spcBef>
              <a:spcAft>
                <a:spcPts val="0"/>
              </a:spcAft>
              <a:buSzPts val="1400"/>
              <a:buChar char="–"/>
              <a:defRPr sz="1600"/>
            </a:lvl4pPr>
            <a:lvl5pPr indent="-317500" lvl="4" marL="2286000">
              <a:spcBef>
                <a:spcPts val="400"/>
              </a:spcBef>
              <a:spcAft>
                <a:spcPts val="0"/>
              </a:spcAft>
              <a:buSzPts val="1400"/>
              <a:buChar char="»"/>
              <a:defRPr sz="1600"/>
            </a:lvl5pPr>
            <a:lvl6pPr indent="-317500" lvl="5" marL="2743200"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1600"/>
            </a:lvl6pPr>
            <a:lvl7pPr indent="-317500" lvl="6" marL="3200400"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1600"/>
            </a:lvl7pPr>
            <a:lvl8pPr indent="-317500" lvl="7" marL="3657600"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1600"/>
            </a:lvl8pPr>
            <a:lvl9pPr indent="-317500" lvl="8" marL="4114800"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1600"/>
            </a:lvl9pPr>
          </a:lstStyle>
          <a:p/>
        </p:txBody>
      </p:sp>
      <p:sp>
        <p:nvSpPr>
          <p:cNvPr id="91" name="Google Shape;91;p19"/>
          <p:cNvSpPr txBox="1"/>
          <p:nvPr>
            <p:ph idx="3" type="body"/>
          </p:nvPr>
        </p:nvSpPr>
        <p:spPr>
          <a:xfrm>
            <a:off x="4645025" y="1151335"/>
            <a:ext cx="4041900" cy="479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640"/>
              </a:spcBef>
              <a:spcAft>
                <a:spcPts val="0"/>
              </a:spcAft>
              <a:buSzPts val="1400"/>
              <a:buFont typeface="Calibri"/>
              <a:buNone/>
              <a:defRPr b="1" sz="2400"/>
            </a:lvl1pPr>
            <a:lvl2pPr indent="-228600" lvl="1" marL="914400">
              <a:spcBef>
                <a:spcPts val="560"/>
              </a:spcBef>
              <a:spcAft>
                <a:spcPts val="0"/>
              </a:spcAft>
              <a:buSzPts val="1400"/>
              <a:buFont typeface="Calibri"/>
              <a:buNone/>
              <a:defRPr b="1" sz="2000"/>
            </a:lvl2pPr>
            <a:lvl3pPr indent="-228600" lvl="2" marL="1371600">
              <a:spcBef>
                <a:spcPts val="480"/>
              </a:spcBef>
              <a:spcAft>
                <a:spcPts val="0"/>
              </a:spcAft>
              <a:buSzPts val="1400"/>
              <a:buFont typeface="Calibri"/>
              <a:buNone/>
              <a:defRPr b="1" sz="1800"/>
            </a:lvl3pPr>
            <a:lvl4pPr indent="-228600" lvl="3" marL="182880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 b="1" sz="1600"/>
            </a:lvl4pPr>
            <a:lvl5pPr indent="-228600" lvl="4" marL="228600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 b="1" sz="1600"/>
            </a:lvl5pPr>
            <a:lvl6pPr indent="-228600" lvl="5" marL="274320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 b="1" sz="1600"/>
            </a:lvl6pPr>
            <a:lvl7pPr indent="-228600" lvl="6" marL="320040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 b="1" sz="1600"/>
            </a:lvl7pPr>
            <a:lvl8pPr indent="-228600" lvl="7" marL="365760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 b="1" sz="1600"/>
            </a:lvl8pPr>
            <a:lvl9pPr indent="-228600" lvl="8" marL="411480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 b="1" sz="1600"/>
            </a:lvl9pPr>
          </a:lstStyle>
          <a:p/>
        </p:txBody>
      </p:sp>
      <p:sp>
        <p:nvSpPr>
          <p:cNvPr id="92" name="Google Shape;92;p19"/>
          <p:cNvSpPr txBox="1"/>
          <p:nvPr>
            <p:ph idx="4" type="body"/>
          </p:nvPr>
        </p:nvSpPr>
        <p:spPr>
          <a:xfrm>
            <a:off x="4645025" y="1631156"/>
            <a:ext cx="4041900" cy="29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640"/>
              </a:spcBef>
              <a:spcAft>
                <a:spcPts val="0"/>
              </a:spcAft>
              <a:buSzPts val="1400"/>
              <a:buChar char="•"/>
              <a:defRPr sz="2400"/>
            </a:lvl1pPr>
            <a:lvl2pPr indent="-317500" lvl="1" marL="914400">
              <a:spcBef>
                <a:spcPts val="560"/>
              </a:spcBef>
              <a:spcAft>
                <a:spcPts val="0"/>
              </a:spcAft>
              <a:buSzPts val="1400"/>
              <a:buChar char="–"/>
              <a:defRPr sz="2000"/>
            </a:lvl2pPr>
            <a:lvl3pPr indent="-317500" lvl="2" marL="1371600">
              <a:spcBef>
                <a:spcPts val="480"/>
              </a:spcBef>
              <a:spcAft>
                <a:spcPts val="0"/>
              </a:spcAft>
              <a:buSzPts val="1400"/>
              <a:buChar char="•"/>
              <a:defRPr sz="1800"/>
            </a:lvl3pPr>
            <a:lvl4pPr indent="-317500" lvl="3" marL="1828800">
              <a:spcBef>
                <a:spcPts val="400"/>
              </a:spcBef>
              <a:spcAft>
                <a:spcPts val="0"/>
              </a:spcAft>
              <a:buSzPts val="1400"/>
              <a:buChar char="–"/>
              <a:defRPr sz="1600"/>
            </a:lvl4pPr>
            <a:lvl5pPr indent="-317500" lvl="4" marL="2286000">
              <a:spcBef>
                <a:spcPts val="400"/>
              </a:spcBef>
              <a:spcAft>
                <a:spcPts val="0"/>
              </a:spcAft>
              <a:buSzPts val="1400"/>
              <a:buChar char="»"/>
              <a:defRPr sz="1600"/>
            </a:lvl5pPr>
            <a:lvl6pPr indent="-317500" lvl="5" marL="2743200"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1600"/>
            </a:lvl6pPr>
            <a:lvl7pPr indent="-317500" lvl="6" marL="3200400"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1600"/>
            </a:lvl7pPr>
            <a:lvl8pPr indent="-317500" lvl="7" marL="3657600"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1600"/>
            </a:lvl8pPr>
            <a:lvl9pPr indent="-317500" lvl="8" marL="4114800"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1600"/>
            </a:lvl9pPr>
          </a:lstStyle>
          <a:p/>
        </p:txBody>
      </p:sp>
      <p:sp>
        <p:nvSpPr>
          <p:cNvPr id="93" name="Google Shape;93;p19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457200" marR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8900" lvl="2" marL="914400" marR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8900" lvl="3" marL="1371600" marR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8900" lvl="4" marL="1828800" marR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8900" lvl="5" marL="2286000" marR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8900" lvl="6" marL="2743200" marR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8900" lvl="7" marL="3200400" marR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8900" lvl="8" marL="3657600" marR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4" name="Google Shape;94;p19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457200" marR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8900" lvl="2" marL="914400" marR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8900" lvl="3" marL="1371600" marR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8900" lvl="4" marL="1828800" marR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8900" lvl="5" marL="2286000" marR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8900" lvl="6" marL="2743200" marR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8900" lvl="7" marL="3200400" marR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8900" lvl="8" marL="3657600" marR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5" name="Google Shape;95;p19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-88900" lvl="0" marL="0" rtl="0" algn="r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1" marL="4572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2" marL="9144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3" marL="13716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4" marL="18288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5" marL="22860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6" marL="2743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7" marL="3200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8" marL="3657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0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457200" marR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8900" lvl="2" marL="914400" marR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8900" lvl="3" marL="1371600" marR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8900" lvl="4" marL="1828800" marR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8900" lvl="5" marL="2286000" marR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8900" lvl="6" marL="2743200" marR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8900" lvl="7" marL="3200400" marR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8900" lvl="8" marL="3657600" marR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9" name="Google Shape;99;p20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457200" marR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8900" lvl="2" marL="914400" marR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8900" lvl="3" marL="1371600" marR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8900" lvl="4" marL="1828800" marR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8900" lvl="5" marL="2286000" marR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8900" lvl="6" marL="2743200" marR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8900" lvl="7" marL="3200400" marR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8900" lvl="8" marL="3657600" marR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0" name="Google Shape;100;p20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-88900" lvl="0" marL="0" rtl="0" algn="r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1" marL="4572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2" marL="9144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3" marL="13716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4" marL="18288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5" marL="22860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6" marL="2743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7" marL="3200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8" marL="3657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1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457200" marR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8900" lvl="2" marL="914400" marR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8900" lvl="3" marL="1371600" marR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8900" lvl="4" marL="1828800" marR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8900" lvl="5" marL="2286000" marR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8900" lvl="6" marL="2743200" marR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8900" lvl="7" marL="3200400" marR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8900" lvl="8" marL="3657600" marR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3" name="Google Shape;103;p21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457200" marR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8900" lvl="2" marL="914400" marR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8900" lvl="3" marL="1371600" marR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8900" lvl="4" marL="1828800" marR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8900" lvl="5" marL="2286000" marR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8900" lvl="6" marL="2743200" marR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8900" lvl="7" marL="3200400" marR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8900" lvl="8" marL="3657600" marR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4" name="Google Shape;104;p21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-88900" lvl="0" marL="0" rtl="0" algn="r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1" marL="4572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2" marL="9144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3" marL="13716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4" marL="18288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5" marL="22860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6" marL="2743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7" marL="3200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8" marL="3657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2"/>
          <p:cNvSpPr txBox="1"/>
          <p:nvPr>
            <p:ph type="title"/>
          </p:nvPr>
        </p:nvSpPr>
        <p:spPr>
          <a:xfrm>
            <a:off x="457200" y="204788"/>
            <a:ext cx="3008400" cy="871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7" name="Google Shape;107;p22"/>
          <p:cNvSpPr txBox="1"/>
          <p:nvPr>
            <p:ph idx="1" type="body"/>
          </p:nvPr>
        </p:nvSpPr>
        <p:spPr>
          <a:xfrm>
            <a:off x="3575050" y="204788"/>
            <a:ext cx="5111700" cy="43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640"/>
              </a:spcBef>
              <a:spcAft>
                <a:spcPts val="0"/>
              </a:spcAft>
              <a:buSzPts val="1400"/>
              <a:buChar char="•"/>
              <a:defRPr sz="3200"/>
            </a:lvl1pPr>
            <a:lvl2pPr indent="-317500" lvl="1" marL="914400">
              <a:spcBef>
                <a:spcPts val="560"/>
              </a:spcBef>
              <a:spcAft>
                <a:spcPts val="0"/>
              </a:spcAft>
              <a:buSzPts val="1400"/>
              <a:buChar char="–"/>
              <a:defRPr sz="2800"/>
            </a:lvl2pPr>
            <a:lvl3pPr indent="-317500" lvl="2" marL="1371600">
              <a:spcBef>
                <a:spcPts val="480"/>
              </a:spcBef>
              <a:spcAft>
                <a:spcPts val="0"/>
              </a:spcAft>
              <a:buSzPts val="1400"/>
              <a:buChar char="•"/>
              <a:defRPr sz="2400"/>
            </a:lvl3pPr>
            <a:lvl4pPr indent="-317500" lvl="3" marL="1828800">
              <a:spcBef>
                <a:spcPts val="400"/>
              </a:spcBef>
              <a:spcAft>
                <a:spcPts val="0"/>
              </a:spcAft>
              <a:buSzPts val="1400"/>
              <a:buChar char="–"/>
              <a:defRPr sz="2000"/>
            </a:lvl4pPr>
            <a:lvl5pPr indent="-317500" lvl="4" marL="2286000">
              <a:spcBef>
                <a:spcPts val="400"/>
              </a:spcBef>
              <a:spcAft>
                <a:spcPts val="0"/>
              </a:spcAft>
              <a:buSzPts val="1400"/>
              <a:buChar char="»"/>
              <a:defRPr sz="2000"/>
            </a:lvl5pPr>
            <a:lvl6pPr indent="-317500" lvl="5" marL="2743200"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2000"/>
            </a:lvl6pPr>
            <a:lvl7pPr indent="-317500" lvl="6" marL="3200400"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2000"/>
            </a:lvl7pPr>
            <a:lvl8pPr indent="-317500" lvl="7" marL="3657600"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2000"/>
            </a:lvl8pPr>
            <a:lvl9pPr indent="-317500" lvl="8" marL="4114800"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2000"/>
            </a:lvl9pPr>
          </a:lstStyle>
          <a:p/>
        </p:txBody>
      </p:sp>
      <p:sp>
        <p:nvSpPr>
          <p:cNvPr id="108" name="Google Shape;108;p22"/>
          <p:cNvSpPr txBox="1"/>
          <p:nvPr>
            <p:ph idx="2" type="body"/>
          </p:nvPr>
        </p:nvSpPr>
        <p:spPr>
          <a:xfrm>
            <a:off x="457200" y="1076325"/>
            <a:ext cx="3008400" cy="35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640"/>
              </a:spcBef>
              <a:spcAft>
                <a:spcPts val="0"/>
              </a:spcAft>
              <a:buSzPts val="1400"/>
              <a:buFont typeface="Calibri"/>
              <a:buNone/>
              <a:defRPr sz="1400"/>
            </a:lvl1pPr>
            <a:lvl2pPr indent="-228600" lvl="1" marL="914400">
              <a:spcBef>
                <a:spcPts val="560"/>
              </a:spcBef>
              <a:spcAft>
                <a:spcPts val="0"/>
              </a:spcAft>
              <a:buSzPts val="1400"/>
              <a:buFont typeface="Calibri"/>
              <a:buNone/>
              <a:defRPr sz="1200"/>
            </a:lvl2pPr>
            <a:lvl3pPr indent="-228600" lvl="2" marL="1371600">
              <a:spcBef>
                <a:spcPts val="480"/>
              </a:spcBef>
              <a:spcAft>
                <a:spcPts val="0"/>
              </a:spcAft>
              <a:buSzPts val="1400"/>
              <a:buFont typeface="Calibri"/>
              <a:buNone/>
              <a:defRPr sz="1000"/>
            </a:lvl3pPr>
            <a:lvl4pPr indent="-228600" lvl="3" marL="182880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 sz="900"/>
            </a:lvl4pPr>
            <a:lvl5pPr indent="-228600" lvl="4" marL="228600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 sz="900"/>
            </a:lvl5pPr>
            <a:lvl6pPr indent="-228600" lvl="5" marL="274320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 sz="900"/>
            </a:lvl6pPr>
            <a:lvl7pPr indent="-228600" lvl="6" marL="320040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 sz="900"/>
            </a:lvl7pPr>
            <a:lvl8pPr indent="-228600" lvl="7" marL="365760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 sz="900"/>
            </a:lvl8pPr>
            <a:lvl9pPr indent="-228600" lvl="8" marL="411480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 sz="900"/>
            </a:lvl9pPr>
          </a:lstStyle>
          <a:p/>
        </p:txBody>
      </p:sp>
      <p:sp>
        <p:nvSpPr>
          <p:cNvPr id="109" name="Google Shape;109;p22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457200" marR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8900" lvl="2" marL="914400" marR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8900" lvl="3" marL="1371600" marR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8900" lvl="4" marL="1828800" marR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8900" lvl="5" marL="2286000" marR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8900" lvl="6" marL="2743200" marR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8900" lvl="7" marL="3200400" marR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8900" lvl="8" marL="3657600" marR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0" name="Google Shape;110;p22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457200" marR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8900" lvl="2" marL="914400" marR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8900" lvl="3" marL="1371600" marR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8900" lvl="4" marL="1828800" marR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8900" lvl="5" marL="2286000" marR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8900" lvl="6" marL="2743200" marR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8900" lvl="7" marL="3200400" marR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8900" lvl="8" marL="3657600" marR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1" name="Google Shape;111;p22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-88900" lvl="0" marL="0" rtl="0" algn="r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1" marL="4572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2" marL="9144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3" marL="13716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4" marL="18288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5" marL="22860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6" marL="2743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7" marL="3200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8" marL="3657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3"/>
          <p:cNvSpPr txBox="1"/>
          <p:nvPr>
            <p:ph type="title"/>
          </p:nvPr>
        </p:nvSpPr>
        <p:spPr>
          <a:xfrm>
            <a:off x="1792288" y="3600450"/>
            <a:ext cx="5486400" cy="425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4" name="Google Shape;114;p23"/>
          <p:cNvSpPr/>
          <p:nvPr>
            <p:ph idx="2" type="pic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b="0" i="0" sz="3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1792288" y="4025504"/>
            <a:ext cx="54864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640"/>
              </a:spcBef>
              <a:spcAft>
                <a:spcPts val="0"/>
              </a:spcAft>
              <a:buSzPts val="1400"/>
              <a:buFont typeface="Calibri"/>
              <a:buNone/>
              <a:defRPr sz="1400"/>
            </a:lvl1pPr>
            <a:lvl2pPr indent="-228600" lvl="1" marL="914400">
              <a:spcBef>
                <a:spcPts val="560"/>
              </a:spcBef>
              <a:spcAft>
                <a:spcPts val="0"/>
              </a:spcAft>
              <a:buSzPts val="1400"/>
              <a:buFont typeface="Calibri"/>
              <a:buNone/>
              <a:defRPr sz="1200"/>
            </a:lvl2pPr>
            <a:lvl3pPr indent="-228600" lvl="2" marL="1371600">
              <a:spcBef>
                <a:spcPts val="480"/>
              </a:spcBef>
              <a:spcAft>
                <a:spcPts val="0"/>
              </a:spcAft>
              <a:buSzPts val="1400"/>
              <a:buFont typeface="Calibri"/>
              <a:buNone/>
              <a:defRPr sz="1000"/>
            </a:lvl3pPr>
            <a:lvl4pPr indent="-228600" lvl="3" marL="182880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 sz="900"/>
            </a:lvl4pPr>
            <a:lvl5pPr indent="-228600" lvl="4" marL="228600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 sz="900"/>
            </a:lvl5pPr>
            <a:lvl6pPr indent="-228600" lvl="5" marL="274320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 sz="900"/>
            </a:lvl6pPr>
            <a:lvl7pPr indent="-228600" lvl="6" marL="320040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 sz="900"/>
            </a:lvl7pPr>
            <a:lvl8pPr indent="-228600" lvl="7" marL="365760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 sz="900"/>
            </a:lvl8pPr>
            <a:lvl9pPr indent="-228600" lvl="8" marL="411480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 sz="900"/>
            </a:lvl9pPr>
          </a:lstStyle>
          <a:p/>
        </p:txBody>
      </p:sp>
      <p:sp>
        <p:nvSpPr>
          <p:cNvPr id="116" name="Google Shape;116;p23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457200" marR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8900" lvl="2" marL="914400" marR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8900" lvl="3" marL="1371600" marR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8900" lvl="4" marL="1828800" marR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8900" lvl="5" marL="2286000" marR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8900" lvl="6" marL="2743200" marR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8900" lvl="7" marL="3200400" marR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8900" lvl="8" marL="3657600" marR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7" name="Google Shape;117;p23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457200" marR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8900" lvl="2" marL="914400" marR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8900" lvl="3" marL="1371600" marR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8900" lvl="4" marL="1828800" marR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8900" lvl="5" marL="2286000" marR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8900" lvl="6" marL="2743200" marR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8900" lvl="7" marL="3200400" marR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8900" lvl="8" marL="3657600" marR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-88900" lvl="0" marL="0" rtl="0" algn="r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1" marL="4572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2" marL="9144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3" marL="13716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4" marL="18288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5" marL="22860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6" marL="2743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7" marL="3200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8" marL="3657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 rot="5400000">
            <a:off x="2874750" y="-1217400"/>
            <a:ext cx="3394500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–"/>
              <a:def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–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»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2" name="Google Shape;122;p24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457200" marR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8900" lvl="2" marL="914400" marR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8900" lvl="3" marL="1371600" marR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8900" lvl="4" marL="1828800" marR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8900" lvl="5" marL="2286000" marR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8900" lvl="6" marL="2743200" marR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8900" lvl="7" marL="3200400" marR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8900" lvl="8" marL="3657600" marR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3" name="Google Shape;123;p24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457200" marR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8900" lvl="2" marL="914400" marR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8900" lvl="3" marL="1371600" marR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8900" lvl="4" marL="1828800" marR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8900" lvl="5" marL="2286000" marR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8900" lvl="6" marL="2743200" marR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8900" lvl="7" marL="3200400" marR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8900" lvl="8" marL="3657600" marR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-88900" lvl="0" marL="0" rtl="0" algn="r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1" marL="4572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2" marL="9144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3" marL="13716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4" marL="18288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5" marL="22860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6" marL="2743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7" marL="3200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8" marL="3657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5"/>
          <p:cNvSpPr txBox="1"/>
          <p:nvPr>
            <p:ph type="title"/>
          </p:nvPr>
        </p:nvSpPr>
        <p:spPr>
          <a:xfrm rot="5400000">
            <a:off x="5463750" y="1371628"/>
            <a:ext cx="43887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27" name="Google Shape;127;p25"/>
          <p:cNvSpPr txBox="1"/>
          <p:nvPr>
            <p:ph idx="1" type="body"/>
          </p:nvPr>
        </p:nvSpPr>
        <p:spPr>
          <a:xfrm rot="5400000">
            <a:off x="1272750" y="-609572"/>
            <a:ext cx="4388700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–"/>
              <a:def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–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»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8" name="Google Shape;128;p25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457200" marR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8900" lvl="2" marL="914400" marR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8900" lvl="3" marL="1371600" marR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8900" lvl="4" marL="1828800" marR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8900" lvl="5" marL="2286000" marR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8900" lvl="6" marL="2743200" marR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8900" lvl="7" marL="3200400" marR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8900" lvl="8" marL="3657600" marR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9" name="Google Shape;129;p25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457200" marR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8900" lvl="2" marL="914400" marR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8900" lvl="3" marL="1371600" marR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8900" lvl="4" marL="1828800" marR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8900" lvl="5" marL="2286000" marR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8900" lvl="6" marL="2743200" marR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8900" lvl="7" marL="3200400" marR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8900" lvl="8" marL="3657600" marR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0" name="Google Shape;130;p25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-88900" lvl="0" marL="0" rtl="0" algn="r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1" marL="4572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2" marL="9144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3" marL="13716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4" marL="18288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5" marL="22860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6" marL="2743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7" marL="3200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8" marL="3657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3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3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0" marR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0" marR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0" marR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0" marR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0" marR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0" marR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0" marR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0" marR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" type="body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marR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marR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9" name="Google Shape;59;p14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457200" marR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8900" lvl="2" marL="914400" marR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8900" lvl="3" marL="1371600" marR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8900" lvl="4" marL="1828800" marR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8900" lvl="5" marL="2286000" marR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8900" lvl="6" marL="2743200" marR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8900" lvl="7" marL="3200400" marR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8900" lvl="8" marL="3657600" marR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0" name="Google Shape;60;p14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457200" marR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8900" lvl="2" marL="914400" marR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8900" lvl="3" marL="1371600" marR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8900" lvl="4" marL="1828800" marR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8900" lvl="5" marL="2286000" marR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8900" lvl="6" marL="2743200" marR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8900" lvl="7" marL="3200400" marR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8900" lvl="8" marL="3657600" marR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1" name="Google Shape;61;p14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-88900" lvl="0" marL="0" rtl="0" algn="r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1" marL="4572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2" marL="9144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3" marL="13716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4" marL="18288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5" marL="22860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6" marL="2743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7" marL="3200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8" marL="3657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hyperlink" Target="http://groups.lis.illinois.edu/amag/langev/author/pkkuhl.html" TargetMode="External"/><Relationship Id="rId4" Type="http://schemas.openxmlformats.org/officeDocument/2006/relationships/hyperlink" Target="http://groups.lis.illinois.edu/amag/langev/pubtype/article_NatureReviewsNeuroscience.html" TargetMode="External"/><Relationship Id="rId5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6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7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8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9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0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1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2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3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4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5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6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7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8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9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20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21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22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23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24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6"/>
          <p:cNvSpPr txBox="1"/>
          <p:nvPr>
            <p:ph type="ctrTitle"/>
          </p:nvPr>
        </p:nvSpPr>
        <p:spPr>
          <a:xfrm>
            <a:off x="722550" y="354701"/>
            <a:ext cx="7698900" cy="1569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27654"/>
              <a:buNone/>
            </a:pPr>
            <a:r>
              <a:rPr lang="en" sz="3580"/>
              <a:t>Recurrent networks trained on statistical learning tasks reveal </a:t>
            </a:r>
            <a:r>
              <a:rPr lang="en" sz="3580"/>
              <a:t>principles</a:t>
            </a:r>
            <a:r>
              <a:rPr lang="en" sz="3580"/>
              <a:t> of neural sequence representation</a:t>
            </a:r>
            <a:endParaRPr sz="3580"/>
          </a:p>
        </p:txBody>
      </p:sp>
      <p:pic>
        <p:nvPicPr>
          <p:cNvPr id="136" name="Google Shape;136;p26"/>
          <p:cNvPicPr preferRelativeResize="0"/>
          <p:nvPr/>
        </p:nvPicPr>
        <p:blipFill rotWithShape="1">
          <a:blip r:embed="rId3">
            <a:alphaModFix/>
          </a:blip>
          <a:srcRect b="0" l="0" r="45304" t="6358"/>
          <a:stretch/>
        </p:blipFill>
        <p:spPr>
          <a:xfrm>
            <a:off x="1767225" y="2114725"/>
            <a:ext cx="5609549" cy="2484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big picture</a:t>
            </a:r>
            <a:endParaRPr/>
          </a:p>
        </p:txBody>
      </p:sp>
      <p:sp>
        <p:nvSpPr>
          <p:cNvPr id="142" name="Google Shape;142;p27"/>
          <p:cNvSpPr txBox="1"/>
          <p:nvPr>
            <p:ph idx="1" type="body"/>
          </p:nvPr>
        </p:nvSpPr>
        <p:spPr>
          <a:xfrm>
            <a:off x="349600" y="1689575"/>
            <a:ext cx="8520600" cy="192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The brain needs to store and represent sequences of primitives (phonemes-&gt;words, muscle movements-&gt;motor </a:t>
            </a:r>
            <a:r>
              <a:rPr lang="en"/>
              <a:t>sequences, etc.).</a:t>
            </a:r>
            <a:br>
              <a:rPr lang="en"/>
            </a:br>
            <a:br>
              <a:rPr lang="en"/>
            </a:br>
            <a:r>
              <a:rPr lang="en"/>
              <a:t>How are these representations stored in the brain, and how are they recalled/produced in a sequential manner? 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Assumptions</a:t>
            </a:r>
            <a:endParaRPr/>
          </a:p>
        </p:txBody>
      </p:sp>
      <p:sp>
        <p:nvSpPr>
          <p:cNvPr id="148" name="Google Shape;148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To a first approximation, the brain is a recurrent neural network.</a:t>
            </a:r>
            <a:endParaRPr/>
          </a:p>
          <a:p>
            <a:pPr indent="-334328" lvl="0" marL="457200" rtl="0" algn="l">
              <a:spcBef>
                <a:spcPts val="100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The output of the brain at any given time is a function of the </a:t>
            </a:r>
            <a:r>
              <a:rPr i="1" lang="en"/>
              <a:t>state </a:t>
            </a:r>
            <a:r>
              <a:rPr lang="en"/>
              <a:t>of the network at that time; the output of the network over a period of time is a </a:t>
            </a:r>
            <a:r>
              <a:rPr i="1" lang="en"/>
              <a:t>trajectory</a:t>
            </a:r>
            <a:r>
              <a:rPr lang="en"/>
              <a:t> through the state space.</a:t>
            </a:r>
            <a:endParaRPr/>
          </a:p>
          <a:p>
            <a:pPr indent="-334328" lvl="0" marL="457200" rtl="0" algn="l">
              <a:spcBef>
                <a:spcPts val="100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The brain originally learns sequences without any prior assumptions about sequence structure; all learned structure is emergent from naive next token prediction.</a:t>
            </a:r>
            <a:endParaRPr/>
          </a:p>
          <a:p>
            <a:pPr indent="-334328" lvl="0" marL="457200" rtl="0" algn="l">
              <a:spcBef>
                <a:spcPts val="100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Once learned, the brain produces sequences via a closed loop process - it generates (predicts) a token, which is fed as an input to the network at the next time step.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Specific questions to be addressed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29"/>
          <p:cNvSpPr txBox="1"/>
          <p:nvPr>
            <p:ph idx="1" type="body"/>
          </p:nvPr>
        </p:nvSpPr>
        <p:spPr>
          <a:xfrm>
            <a:off x="311700" y="1152475"/>
            <a:ext cx="8520600" cy="376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-317183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What do trajectory geometries generally look like for learned sequences (words)?</a:t>
            </a:r>
            <a:endParaRPr/>
          </a:p>
          <a:p>
            <a:pPr indent="-317183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How stable is the representational geometry over </a:t>
            </a:r>
            <a:r>
              <a:rPr lang="en"/>
              <a:t>multiple random seeds? (Multiple realizability).</a:t>
            </a:r>
            <a:endParaRPr/>
          </a:p>
          <a:p>
            <a:pPr indent="-317183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How does word length influence trajectory geometry?</a:t>
            </a:r>
            <a:endParaRPr/>
          </a:p>
          <a:p>
            <a:pPr indent="-317183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How does the number of words stored influence trajectory geometry?</a:t>
            </a:r>
            <a:endParaRPr/>
          </a:p>
          <a:p>
            <a:pPr indent="-317183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Why does the trajectory geometry look the way it does?</a:t>
            </a:r>
            <a:endParaRPr/>
          </a:p>
          <a:p>
            <a:pPr indent="-317183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What sort of features (specific token, position in sequence, DFA state) are easily read out of the neural representation?</a:t>
            </a:r>
            <a:endParaRPr/>
          </a:p>
          <a:p>
            <a:pPr indent="-317183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What sort of features do we see in single-neuron responses?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Questions be addressed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30"/>
          <p:cNvSpPr txBox="1"/>
          <p:nvPr>
            <p:ph idx="1" type="body"/>
          </p:nvPr>
        </p:nvSpPr>
        <p:spPr>
          <a:xfrm>
            <a:off x="311700" y="1152475"/>
            <a:ext cx="8520600" cy="376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19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AutoNum type="arabicPeriod"/>
            </a:pPr>
            <a:r>
              <a:rPr lang="en" sz="2100"/>
              <a:t>How is lexical information (word position, character, etc.) represented in a recurrent network that learns to produce words?</a:t>
            </a:r>
            <a:endParaRPr sz="2100"/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-36195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100"/>
              <a:buAutoNum type="arabicPeriod"/>
            </a:pPr>
            <a:r>
              <a:rPr lang="en" sz="2100"/>
              <a:t>How does network’s representation of information change with vocabulary complexity?</a:t>
            </a:r>
            <a:endParaRPr sz="2100"/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-36195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100"/>
              <a:buAutoNum type="arabicPeriod"/>
            </a:pPr>
            <a:r>
              <a:rPr lang="en" sz="2100"/>
              <a:t>How do the network’s </a:t>
            </a:r>
            <a:r>
              <a:rPr i="1" lang="en" sz="2100"/>
              <a:t>weights </a:t>
            </a:r>
            <a:r>
              <a:rPr lang="en" sz="2100"/>
              <a:t>differ as a function of the complexity of the learned vocabulary (function-&gt;structure).</a:t>
            </a:r>
            <a:endParaRPr sz="2100"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1"/>
          <p:cNvSpPr txBox="1"/>
          <p:nvPr>
            <p:ph type="title"/>
          </p:nvPr>
        </p:nvSpPr>
        <p:spPr>
          <a:xfrm>
            <a:off x="457200" y="11430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b="1" i="0" lang="en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Statistical Learning and Language Acquisition</a:t>
            </a:r>
            <a:br>
              <a:rPr b="1" i="0" lang="en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1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31"/>
          <p:cNvSpPr txBox="1"/>
          <p:nvPr>
            <p:ph idx="1" type="body"/>
          </p:nvPr>
        </p:nvSpPr>
        <p:spPr>
          <a:xfrm>
            <a:off x="533400" y="571500"/>
            <a:ext cx="8229600" cy="38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32385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•"/>
            </a:pPr>
            <a:r>
              <a:rPr b="0" i="0" lang="e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Saffran, Newport, Aslin. Science (1996). “Statistical Learning By 8-Month-Old Infants.”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342900" marR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•"/>
            </a:pPr>
            <a:r>
              <a:rPr b="0" i="0" lang="e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do infants learn to segment  auditory information into individual words?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39700" lvl="0" marL="342900" marR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60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39700" lvl="0" marL="342900" marR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60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t/>
            </a:r>
            <a:endParaRPr sz="2000"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t/>
            </a:r>
            <a:endParaRPr sz="2000"/>
          </a:p>
          <a:p>
            <a:pPr indent="0" lvl="0" marL="0" marR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Font typeface="Calibri"/>
              <a:buNone/>
            </a:pPr>
            <a:r>
              <a:rPr b="0" i="0" lang="en" sz="10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Kuhl, P. K.</a:t>
            </a: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(2004) Early language acquisition: cracking the speech code. </a:t>
            </a:r>
            <a:r>
              <a:rPr b="0" i="1" lang="en" sz="10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Nature Reviews Neuroscience</a:t>
            </a:r>
            <a:r>
              <a:rPr b="0" i="0" lang="en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5(11):831--843.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7" name="Google Shape;167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00100" y="2446904"/>
            <a:ext cx="7696200" cy="17180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2"/>
          <p:cNvSpPr txBox="1"/>
          <p:nvPr>
            <p:ph type="title"/>
          </p:nvPr>
        </p:nvSpPr>
        <p:spPr>
          <a:xfrm>
            <a:off x="310125" y="171450"/>
            <a:ext cx="8376600" cy="65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b="1" i="0" lang="en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Statistical Language Segmentation: Saffran Experiment</a:t>
            </a:r>
            <a:endParaRPr b="1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32"/>
          <p:cNvSpPr txBox="1"/>
          <p:nvPr>
            <p:ph idx="1" type="body"/>
          </p:nvPr>
        </p:nvSpPr>
        <p:spPr>
          <a:xfrm>
            <a:off x="457200" y="971550"/>
            <a:ext cx="8229600" cy="26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048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</a:pPr>
            <a:r>
              <a:rPr b="0" i="0" lang="en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Pseudo-words, like </a:t>
            </a:r>
            <a:r>
              <a:rPr b="1" i="1" lang="en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bupa</a:t>
            </a:r>
            <a:r>
              <a:rPr b="1" i="1" lang="en" sz="1400"/>
              <a:t>do</a:t>
            </a:r>
            <a:r>
              <a:rPr b="1" i="1" lang="en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</a:t>
            </a:r>
            <a:r>
              <a:rPr lang="en" sz="1400"/>
              <a:t> </a:t>
            </a:r>
            <a:r>
              <a:rPr b="1" i="1" lang="en" sz="1400"/>
              <a:t>ku</a:t>
            </a:r>
            <a:r>
              <a:rPr b="1" i="1" lang="en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taba</a:t>
            </a:r>
            <a:r>
              <a:rPr b="0" i="0" lang="en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were randomly concatenated and presented to infa</a:t>
            </a:r>
            <a:r>
              <a:rPr lang="en" sz="1400"/>
              <a:t>nts </a:t>
            </a:r>
            <a:r>
              <a:rPr b="0" i="0" lang="en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sequences such as: 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bupad</a:t>
            </a:r>
            <a:r>
              <a:rPr b="1" i="1" lang="en" sz="3300"/>
              <a:t>oku</a:t>
            </a:r>
            <a:r>
              <a:rPr b="1" i="1" lang="en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taba</a:t>
            </a:r>
            <a:r>
              <a:rPr b="1" i="1" lang="en" sz="3300"/>
              <a:t>ku</a:t>
            </a:r>
            <a:r>
              <a:rPr b="1" i="1" lang="en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tababupa</a:t>
            </a:r>
            <a:r>
              <a:rPr b="1" i="1" lang="en" sz="3300"/>
              <a:t>do</a:t>
            </a:r>
            <a:r>
              <a:rPr b="1" i="1" lang="en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bupa</a:t>
            </a:r>
            <a:r>
              <a:rPr b="1" i="1" lang="en" sz="3300"/>
              <a:t>doku</a:t>
            </a:r>
            <a:r>
              <a:rPr b="1" i="1" lang="en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taba 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04800" lvl="0" marL="3429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</a:pPr>
            <a:r>
              <a:rPr b="0" i="0" lang="en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a probing session, infants demonstrated a greater familiarity with the “words”, </a:t>
            </a:r>
            <a:r>
              <a:rPr b="0" i="1" lang="en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bupa</a:t>
            </a:r>
            <a:r>
              <a:rPr i="1" lang="en" sz="1400"/>
              <a:t>do</a:t>
            </a:r>
            <a:r>
              <a:rPr b="0" i="1" lang="en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 </a:t>
            </a:r>
            <a:r>
              <a:rPr i="1" lang="en" sz="1400"/>
              <a:t>ku</a:t>
            </a:r>
            <a:r>
              <a:rPr b="0" i="1" lang="en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taba, </a:t>
            </a:r>
            <a:r>
              <a:rPr b="0" i="0" lang="en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</a:t>
            </a:r>
            <a:r>
              <a:rPr lang="en" sz="1400"/>
              <a:t>a</a:t>
            </a:r>
            <a:r>
              <a:rPr b="0" i="0" lang="en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 they did with non-words that crossed word boun</a:t>
            </a:r>
            <a:r>
              <a:rPr lang="en" sz="1400"/>
              <a:t>da</a:t>
            </a:r>
            <a:r>
              <a:rPr b="0" i="0" lang="en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ries, like </a:t>
            </a:r>
            <a:r>
              <a:rPr b="0" i="1" lang="en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</a:t>
            </a:r>
            <a:r>
              <a:rPr i="1" lang="en" sz="1400"/>
              <a:t>doku</a:t>
            </a:r>
            <a:endParaRPr b="0" i="1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i="1" sz="1400"/>
          </a:p>
          <a:p>
            <a:pPr indent="-304800" lvl="0" marL="3429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</a:pPr>
            <a:r>
              <a:rPr b="0" i="0" lang="en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Conclusion: transitional probabilities between syllables allow infants to segment speech into indivi</a:t>
            </a:r>
            <a:r>
              <a:rPr lang="en" sz="1400"/>
              <a:t>du</a:t>
            </a:r>
            <a:r>
              <a:rPr b="0" i="0" lang="en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 words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39700" lvl="0" marL="3429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lang="en" sz="4000"/>
              <a:t>bu pa do ku ta ba</a:t>
            </a:r>
            <a:endParaRPr sz="4000"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t/>
            </a:r>
            <a:endParaRPr sz="4000"/>
          </a:p>
          <a:p>
            <a:pPr indent="-139700" lvl="0" marL="3429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t/>
            </a:r>
            <a:endParaRPr sz="2400"/>
          </a:p>
          <a:p>
            <a:pPr indent="0" lvl="0" marL="0" rtl="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t/>
            </a:r>
            <a:endParaRPr sz="4000"/>
          </a:p>
          <a:p>
            <a:pPr indent="-139700" lvl="0" marL="3429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t/>
            </a:r>
            <a:endParaRPr sz="4000"/>
          </a:p>
        </p:txBody>
      </p:sp>
      <p:grpSp>
        <p:nvGrpSpPr>
          <p:cNvPr id="174" name="Google Shape;174;p32"/>
          <p:cNvGrpSpPr/>
          <p:nvPr/>
        </p:nvGrpSpPr>
        <p:grpSpPr>
          <a:xfrm>
            <a:off x="3105075" y="3797980"/>
            <a:ext cx="2933850" cy="380408"/>
            <a:chOff x="3105075" y="3584430"/>
            <a:chExt cx="2933850" cy="380408"/>
          </a:xfrm>
        </p:grpSpPr>
        <p:sp>
          <p:nvSpPr>
            <p:cNvPr id="175" name="Google Shape;175;p32"/>
            <p:cNvSpPr/>
            <p:nvPr/>
          </p:nvSpPr>
          <p:spPr>
            <a:xfrm>
              <a:off x="3686100" y="3850538"/>
              <a:ext cx="381000" cy="114300"/>
            </a:xfrm>
            <a:prstGeom prst="curvedDownArrow">
              <a:avLst>
                <a:gd fmla="val 25000" name="adj1"/>
                <a:gd fmla="val 50000" name="adj2"/>
                <a:gd fmla="val 25000" name="adj3"/>
              </a:avLst>
            </a:prstGeom>
            <a:solidFill>
              <a:schemeClr val="accent1"/>
            </a:solidFill>
            <a:ln cap="flat" cmpd="sng" w="25400">
              <a:solidFill>
                <a:srgbClr val="395E8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" name="Google Shape;176;p32"/>
            <p:cNvSpPr/>
            <p:nvPr/>
          </p:nvSpPr>
          <p:spPr>
            <a:xfrm>
              <a:off x="4371900" y="3836250"/>
              <a:ext cx="381000" cy="114300"/>
            </a:xfrm>
            <a:prstGeom prst="curvedDownArrow">
              <a:avLst>
                <a:gd fmla="val 25000" name="adj1"/>
                <a:gd fmla="val 50000" name="adj2"/>
                <a:gd fmla="val 25000" name="adj3"/>
              </a:avLst>
            </a:prstGeom>
            <a:solidFill>
              <a:schemeClr val="accent1"/>
            </a:solidFill>
            <a:ln cap="flat" cmpd="sng" w="25400">
              <a:solidFill>
                <a:srgbClr val="395E8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" name="Google Shape;177;p32"/>
            <p:cNvSpPr/>
            <p:nvPr/>
          </p:nvSpPr>
          <p:spPr>
            <a:xfrm>
              <a:off x="5019600" y="3843394"/>
              <a:ext cx="381000" cy="114300"/>
            </a:xfrm>
            <a:prstGeom prst="curvedDownArrow">
              <a:avLst>
                <a:gd fmla="val 25000" name="adj1"/>
                <a:gd fmla="val 50000" name="adj2"/>
                <a:gd fmla="val 25000" name="adj3"/>
              </a:avLst>
            </a:prstGeom>
            <a:solidFill>
              <a:schemeClr val="accent1"/>
            </a:solidFill>
            <a:ln cap="flat" cmpd="sng" w="25400">
              <a:solidFill>
                <a:srgbClr val="395E8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" name="Google Shape;178;p32"/>
            <p:cNvSpPr/>
            <p:nvPr/>
          </p:nvSpPr>
          <p:spPr>
            <a:xfrm>
              <a:off x="5591100" y="3843394"/>
              <a:ext cx="381000" cy="114300"/>
            </a:xfrm>
            <a:prstGeom prst="curvedDownArrow">
              <a:avLst>
                <a:gd fmla="val 25000" name="adj1"/>
                <a:gd fmla="val 50000" name="adj2"/>
                <a:gd fmla="val 25000" name="adj3"/>
              </a:avLst>
            </a:prstGeom>
            <a:solidFill>
              <a:schemeClr val="accent1"/>
            </a:solidFill>
            <a:ln cap="flat" cmpd="sng" w="25400">
              <a:solidFill>
                <a:srgbClr val="395E8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" name="Google Shape;179;p32"/>
            <p:cNvSpPr txBox="1"/>
            <p:nvPr/>
          </p:nvSpPr>
          <p:spPr>
            <a:xfrm>
              <a:off x="3105075" y="3608095"/>
              <a:ext cx="514500" cy="23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1.0</a:t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80" name="Google Shape;180;p32"/>
            <p:cNvGrpSpPr/>
            <p:nvPr/>
          </p:nvGrpSpPr>
          <p:grpSpPr>
            <a:xfrm>
              <a:off x="3152700" y="3584430"/>
              <a:ext cx="2886225" cy="380408"/>
              <a:chOff x="3152700" y="3584430"/>
              <a:chExt cx="2886225" cy="380408"/>
            </a:xfrm>
          </p:grpSpPr>
          <p:sp>
            <p:nvSpPr>
              <p:cNvPr id="181" name="Google Shape;181;p32"/>
              <p:cNvSpPr/>
              <p:nvPr/>
            </p:nvSpPr>
            <p:spPr>
              <a:xfrm>
                <a:off x="3152700" y="3850538"/>
                <a:ext cx="381000" cy="114300"/>
              </a:xfrm>
              <a:prstGeom prst="curvedDownArrow">
                <a:avLst>
                  <a:gd fmla="val 25000" name="adj1"/>
                  <a:gd fmla="val 50000" name="adj2"/>
                  <a:gd fmla="val 25000" name="adj3"/>
                </a:avLst>
              </a:prstGeom>
              <a:solidFill>
                <a:schemeClr val="accent1"/>
              </a:solidFill>
              <a:ln cap="flat" cmpd="sng" w="25400">
                <a:solidFill>
                  <a:srgbClr val="395E8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" name="Google Shape;182;p32"/>
              <p:cNvSpPr txBox="1"/>
              <p:nvPr/>
            </p:nvSpPr>
            <p:spPr>
              <a:xfrm>
                <a:off x="3686100" y="3605417"/>
                <a:ext cx="514500" cy="230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" sz="14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1.0</a:t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3" name="Google Shape;183;p32"/>
              <p:cNvSpPr txBox="1"/>
              <p:nvPr/>
            </p:nvSpPr>
            <p:spPr>
              <a:xfrm>
                <a:off x="4952925" y="3584430"/>
                <a:ext cx="514500" cy="230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" sz="14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1.0</a:t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4" name="Google Shape;184;p32"/>
              <p:cNvSpPr txBox="1"/>
              <p:nvPr/>
            </p:nvSpPr>
            <p:spPr>
              <a:xfrm>
                <a:off x="5524425" y="3589341"/>
                <a:ext cx="514500" cy="230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" sz="14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1.0</a:t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5" name="Google Shape;185;p32"/>
              <p:cNvSpPr txBox="1"/>
              <p:nvPr/>
            </p:nvSpPr>
            <p:spPr>
              <a:xfrm>
                <a:off x="4305225" y="3605417"/>
                <a:ext cx="514500" cy="230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" sz="14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0.5</a:t>
                </a:r>
                <a:endParaRPr b="0" i="0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3"/>
          <p:cNvSpPr txBox="1"/>
          <p:nvPr>
            <p:ph type="title"/>
          </p:nvPr>
        </p:nvSpPr>
        <p:spPr>
          <a:xfrm>
            <a:off x="421900" y="111803"/>
            <a:ext cx="8229600" cy="85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Vocabularies for statistical learning</a:t>
            </a:r>
            <a:endParaRPr sz="3600"/>
          </a:p>
        </p:txBody>
      </p:sp>
      <p:pic>
        <p:nvPicPr>
          <p:cNvPr id="191" name="Google Shape;191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58500" y="969203"/>
            <a:ext cx="5827008" cy="38694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4"/>
          <p:cNvSpPr txBox="1"/>
          <p:nvPr>
            <p:ph type="title"/>
          </p:nvPr>
        </p:nvSpPr>
        <p:spPr>
          <a:xfrm>
            <a:off x="457200" y="70643"/>
            <a:ext cx="8229600" cy="85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Training an RNN</a:t>
            </a:r>
            <a:endParaRPr/>
          </a:p>
        </p:txBody>
      </p:sp>
      <p:pic>
        <p:nvPicPr>
          <p:cNvPr id="197" name="Google Shape;197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8788" y="1033358"/>
            <a:ext cx="8246435" cy="37753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5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Evaluation</a:t>
            </a:r>
            <a:endParaRPr/>
          </a:p>
        </p:txBody>
      </p:sp>
      <p:pic>
        <p:nvPicPr>
          <p:cNvPr id="203" name="Google Shape;203;p35"/>
          <p:cNvPicPr preferRelativeResize="0"/>
          <p:nvPr/>
        </p:nvPicPr>
        <p:blipFill rotWithShape="1">
          <a:blip r:embed="rId3">
            <a:alphaModFix/>
          </a:blip>
          <a:srcRect b="0" l="0" r="0" t="19711"/>
          <a:stretch/>
        </p:blipFill>
        <p:spPr>
          <a:xfrm>
            <a:off x="175950" y="1335050"/>
            <a:ext cx="8839200" cy="3027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154305"/>
            <a:ext cx="877824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/>
            </a:pPr>
            <a:r>
              <a:t>Minimal DFAs for three small vocabularies</a:t>
            </a:r>
          </a:p>
        </p:txBody>
      </p:sp>
      <p:pic>
        <p:nvPicPr>
          <p:cNvPr id="3" name="Picture 2" descr="fig_dfa_exampl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188" y="822960"/>
            <a:ext cx="8649622" cy="416623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154305"/>
            <a:ext cx="877824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/>
            </a:pPr>
            <a:r>
              <a:t>Demo vocabulary and training stream</a:t>
            </a:r>
          </a:p>
        </p:txBody>
      </p:sp>
      <p:pic>
        <p:nvPicPr>
          <p:cNvPr id="3" name="Picture 2" descr="fig04_corpus_stre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497901"/>
            <a:ext cx="8778240" cy="281635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154305"/>
            <a:ext cx="877824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/>
            </a:pPr>
            <a:r>
              <a:t>Learning curve and generation</a:t>
            </a:r>
          </a:p>
        </p:txBody>
      </p:sp>
      <p:pic>
        <p:nvPicPr>
          <p:cNvPr id="3" name="Picture 2" descr="fig03_learning_with_sampl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584952"/>
            <a:ext cx="8778240" cy="264225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154305"/>
            <a:ext cx="877824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/>
            </a:pPr>
            <a:r>
              <a:t>Next-character probabilities</a:t>
            </a:r>
          </a:p>
        </p:txBody>
      </p:sp>
      <p:pic>
        <p:nvPicPr>
          <p:cNvPr id="3" name="Picture 2" descr="fig_next_char_prob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907552"/>
            <a:ext cx="8778240" cy="199704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154305"/>
            <a:ext cx="877824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/>
            </a:pPr>
            <a:r>
              <a:t>Activation heatmap</a:t>
            </a:r>
          </a:p>
        </p:txBody>
      </p:sp>
      <p:pic>
        <p:nvPicPr>
          <p:cNvPr id="3" name="Picture 2" descr="fig_activation_heatma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3944" y="822960"/>
            <a:ext cx="5056110" cy="416623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154305"/>
            <a:ext cx="877824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/>
            </a:pPr>
            <a:r>
              <a:t>Activations clustered by prefix</a:t>
            </a:r>
          </a:p>
        </p:txBody>
      </p:sp>
      <p:pic>
        <p:nvPicPr>
          <p:cNvPr id="3" name="Picture 2" descr="fig_activation_clustere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455" y="822960"/>
            <a:ext cx="8169088" cy="416623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154305"/>
            <a:ext cx="877824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/>
            </a:pPr>
            <a:r>
              <a:t>Hidden-state correlation</a:t>
            </a:r>
          </a:p>
        </p:txBody>
      </p:sp>
      <p:pic>
        <p:nvPicPr>
          <p:cNvPr id="3" name="Picture 2" descr="fig_state_correlat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9326" y="822960"/>
            <a:ext cx="4025347" cy="416623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154305"/>
            <a:ext cx="877824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/>
            </a:pPr>
            <a:r>
              <a:t>DFA PCA geometry and feature separation</a:t>
            </a:r>
          </a:p>
        </p:txBody>
      </p:sp>
      <p:pic>
        <p:nvPicPr>
          <p:cNvPr id="3" name="Picture 2" descr="fig_dfa_pca_geometr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7050" y="822960"/>
            <a:ext cx="4309898" cy="416623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154305"/>
            <a:ext cx="877824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/>
            </a:pPr>
            <a:r>
              <a:t>Example selective units</a:t>
            </a:r>
          </a:p>
        </p:txBody>
      </p:sp>
      <p:pic>
        <p:nvPicPr>
          <p:cNvPr id="3" name="Picture 2" descr="fig_example_unit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9555" y="822960"/>
            <a:ext cx="6144889" cy="416623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154305"/>
            <a:ext cx="877824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/>
            </a:pPr>
            <a:r>
              <a:t>Linear decoding with word identity</a:t>
            </a:r>
          </a:p>
        </p:txBody>
      </p:sp>
      <p:pic>
        <p:nvPicPr>
          <p:cNvPr id="3" name="Picture 2" descr="fig_decoding_with_wor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655178"/>
            <a:ext cx="8778240" cy="2501798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154305"/>
            <a:ext cx="877824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/>
            </a:pPr>
            <a:r>
              <a:t>DFA states and trajectories across seeds</a:t>
            </a:r>
          </a:p>
        </p:txBody>
      </p:sp>
      <p:pic>
        <p:nvPicPr>
          <p:cNvPr id="3" name="Picture 2" descr="fig_word_trajectori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02296"/>
            <a:ext cx="8778240" cy="3807561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154305"/>
            <a:ext cx="877824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/>
            </a:pPr>
            <a:r>
              <a:t>Mixed-vocab scaling overview</a:t>
            </a:r>
          </a:p>
        </p:txBody>
      </p:sp>
      <p:pic>
        <p:nvPicPr>
          <p:cNvPr id="3" name="Picture 2" descr="fig_mixed_scaling_overview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401236"/>
            <a:ext cx="8778240" cy="3009682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154305"/>
            <a:ext cx="877824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/>
            </a:pPr>
            <a:r>
              <a:t>Activation heatmaps across DFA size</a:t>
            </a:r>
          </a:p>
        </p:txBody>
      </p:sp>
      <p:pic>
        <p:nvPicPr>
          <p:cNvPr id="3" name="Picture 2" descr="fig_activation_heatmaps_by_df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1409" y="822960"/>
            <a:ext cx="6101180" cy="4166235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154305"/>
            <a:ext cx="877824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/>
            </a:pPr>
            <a:r>
              <a:t>Closed-loop trajectories by DFA span</a:t>
            </a:r>
          </a:p>
        </p:txBody>
      </p:sp>
      <p:pic>
        <p:nvPicPr>
          <p:cNvPr id="3" name="Picture 2" descr="fig_mixed_traj_by_df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8186" y="822960"/>
            <a:ext cx="4087626" cy="4166235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154305"/>
            <a:ext cx="877824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/>
            </a:pPr>
            <a:r>
              <a:t>Readout curves and learning</a:t>
            </a:r>
          </a:p>
        </p:txBody>
      </p:sp>
      <p:pic>
        <p:nvPicPr>
          <p:cNvPr id="3" name="Picture 2" descr="fig_mixed_decoding_curv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1410" y="822960"/>
            <a:ext cx="4121178" cy="4166235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154305"/>
            <a:ext cx="877824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/>
            </a:pPr>
            <a:r>
              <a:t>Within-feature geometry and unit selectivity</a:t>
            </a:r>
          </a:p>
        </p:txBody>
      </p:sp>
      <p:pic>
        <p:nvPicPr>
          <p:cNvPr id="3" name="Picture 2" descr="fig_mixed_cosine_withi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334" y="822960"/>
            <a:ext cx="8209330" cy="4166235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154305"/>
            <a:ext cx="877824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/>
            </a:pPr>
            <a:r>
              <a:t>Readout vs DFA at fixed PCs</a:t>
            </a:r>
          </a:p>
        </p:txBody>
      </p:sp>
      <p:pic>
        <p:nvPicPr>
          <p:cNvPr id="3" name="Picture 2" descr="fig_mixed_decoding_vs_df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646" y="822960"/>
            <a:ext cx="8076707" cy="4166235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154305"/>
            <a:ext cx="877824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/>
            </a:pPr>
            <a:r>
              <a:t>Weight matrices by DFA size</a:t>
            </a:r>
          </a:p>
        </p:txBody>
      </p:sp>
      <p:pic>
        <p:nvPicPr>
          <p:cNvPr id="3" name="Picture 2" descr="fig_weight_matrices_by_df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6124" y="822960"/>
            <a:ext cx="6271751" cy="4166234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154305"/>
            <a:ext cx="877824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/>
            </a:pPr>
            <a:r>
              <a:t>Weight graph structure and motifs vs DFA</a:t>
            </a:r>
          </a:p>
        </p:txBody>
      </p:sp>
      <p:pic>
        <p:nvPicPr>
          <p:cNvPr id="3" name="Picture 2" descr="fig_weight_graph_motifs_vs_df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8888" y="822960"/>
            <a:ext cx="2606223" cy="416623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